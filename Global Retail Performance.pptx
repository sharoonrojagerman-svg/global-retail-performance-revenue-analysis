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23" r:id="rId4"/>
  </p:sldMasterIdLst>
  <p:notesMasterIdLst>
    <p:notesMasterId r:id="rId31"/>
  </p:notesMasterIdLst>
  <p:handoutMasterIdLst>
    <p:handoutMasterId r:id="rId32"/>
  </p:handoutMasterIdLst>
  <p:sldIdLst>
    <p:sldId id="1497" r:id="rId5"/>
    <p:sldId id="1498" r:id="rId6"/>
    <p:sldId id="1516" r:id="rId7"/>
    <p:sldId id="1499" r:id="rId8"/>
    <p:sldId id="1500" r:id="rId9"/>
    <p:sldId id="1517" r:id="rId10"/>
    <p:sldId id="1513" r:id="rId11"/>
    <p:sldId id="1518" r:id="rId12"/>
    <p:sldId id="1519" r:id="rId13"/>
    <p:sldId id="1520" r:id="rId14"/>
    <p:sldId id="1521" r:id="rId15"/>
    <p:sldId id="1522" r:id="rId16"/>
    <p:sldId id="1523" r:id="rId17"/>
    <p:sldId id="1524" r:id="rId18"/>
    <p:sldId id="1525" r:id="rId19"/>
    <p:sldId id="1526" r:id="rId20"/>
    <p:sldId id="1527" r:id="rId21"/>
    <p:sldId id="1528" r:id="rId22"/>
    <p:sldId id="1529" r:id="rId23"/>
    <p:sldId id="1530" r:id="rId24"/>
    <p:sldId id="1531" r:id="rId25"/>
    <p:sldId id="1533" r:id="rId26"/>
    <p:sldId id="1532" r:id="rId27"/>
    <p:sldId id="1534" r:id="rId28"/>
    <p:sldId id="1535" r:id="rId29"/>
    <p:sldId id="153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471F2E-E011-F521-299E-65FC243E7E5E}" name="David Salaguinto" initials="DS" userId="S::davidsa@microsoft.com::9399e6ad-b974-43d0-b593-8c2804f84e0d" providerId="AD"/>
  <p188:author id="{DC3CAF61-3D39-8A1C-6AB6-F5CBCFCBEA47}" name="Vanessa Buzgheia (ALLEGIS GROUP HOLDINGS INC)" initials="" userId="S::v-vabuzgheia@microsoft.com::f3934b54-4599-40d0-96a8-d6208686f730" providerId="AD"/>
  <p188:author id="{9941987A-41B7-49AC-EE6E-03F2D0BD95BA}" name="Daria Naidenov" initials="DN" userId="S::danaidenov@microsoft.com::ab38ab5f-bdf0-4774-ae5a-d2782abb2027" providerId="AD"/>
  <p188:author id="{E2AFCBE2-96AD-378F-B4C9-6D94B252CA9F}" name="Kaila Orsucci (ANDERSEN CONSULTANTS LLC)" initials="KO" userId="S::v-kaiorsucci@microsoft.com::6b53eb50-4ec2-4e76-8ec7-518784d2a6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563B"/>
    <a:srgbClr val="F7E6D4"/>
    <a:srgbClr val="000102"/>
    <a:srgbClr val="010102"/>
    <a:srgbClr val="FFC1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0A15C55-8517-42AA-B614-E9B94910E39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886" autoAdjust="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F:\Documents\Data%20Analytics\Project\E-commerse%20data%20cleaned(AutoRecovered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F:\Documents\Data%20Analytics\Project\E-commerse%20data%20cleaned(AutoRecovered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F:\Documents\Data%20Analytics\Project\E-commerse%20data%20cleaned(AutoRecovered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F:\Documents\Data%20Analytics\Project\E-commerse%20data%20cleaned(AutoRecovered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F:\Documents\Data%20Analytics\Project\E-commerse%20data%20cleaned(AutoRecovered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F:\Documents\Data%20Analytics\Project\E-commerse%20data%20cleaned(AutoRecovered)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F:\Documents\Data%20Analytics\Project\E-commerse%20data%20cleaned(AutoRecovered)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F:\Documents\Data%20Analytics\Project\E-commerse%20data%20cleaned(AutoRecovered)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F:\Documents\Data%20Analytics\Project\E-commerse%20data%20cleaned(AutoRecovered)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F:\Documents\Data%20Analytics\Project\E-commerse%20data%20cleaned(AutoRecovered)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pivotSource>
    <c:name>[E-commerse data cleaned(AutoRecovered).xlsx]Pivot Table!PivotTable4</c:name>
    <c:fmtId val="1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rgbClr val="4D4D4D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 sz="1200" b="1"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MONTHLY</a:t>
            </a:r>
            <a:r>
              <a:rPr lang="en-US" sz="1200" b="1" baseline="0"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REVENUE TREND</a:t>
            </a:r>
            <a:endParaRPr lang="en-US" sz="1200" b="1">
              <a:solidFill>
                <a:srgbClr val="4D4D4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rgbClr val="4D4D4D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3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3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3"/>
          </a:solidFill>
          <a:ln w="28575" cap="rnd">
            <a:solidFill>
              <a:srgbClr val="27AE60"/>
            </a:solidFill>
            <a:round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c:spPr>
        <c:marker>
          <c:symbol val="circle"/>
          <c:size val="5"/>
          <c:spPr>
            <a:solidFill>
              <a:srgbClr val="27AE60"/>
            </a:solidFill>
            <a:ln w="9525">
              <a:solidFill>
                <a:schemeClr val="accent3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3"/>
          </a:solidFill>
          <a:ln w="28575" cap="rnd">
            <a:solidFill>
              <a:srgbClr val="27AE60"/>
            </a:solidFill>
            <a:round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c:spPr>
        <c:marker>
          <c:symbol val="circle"/>
          <c:size val="5"/>
          <c:spPr>
            <a:solidFill>
              <a:srgbClr val="27AE60"/>
            </a:solidFill>
            <a:ln w="9525">
              <a:solidFill>
                <a:schemeClr val="accent3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3"/>
          </a:solidFill>
          <a:ln w="28575" cap="rnd">
            <a:solidFill>
              <a:srgbClr val="27AE60"/>
            </a:solidFill>
            <a:round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c:spPr>
        <c:marker>
          <c:symbol val="circle"/>
          <c:size val="5"/>
          <c:spPr>
            <a:solidFill>
              <a:srgbClr val="27AE60"/>
            </a:solidFill>
            <a:ln w="9525">
              <a:solidFill>
                <a:schemeClr val="accent3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'Pivot Table'!$K$3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>
                <a:glow rad="63500">
                  <a:schemeClr val="accent6">
                    <a:satMod val="175000"/>
                    <a:alpha val="40000"/>
                  </a:schemeClr>
                </a:glow>
              </a:effectLst>
            </c:spPr>
          </c:marker>
          <c:cat>
            <c:strRef>
              <c:f>'Pivot Table'!$J$4:$J$16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'Pivot Table'!$K$4:$K$16</c:f>
              <c:numCache>
                <c:formatCode>_-[$£-809]* #,##0_-;\-[$£-809]* #,##0_-;_-[$£-809]* "-"??_-;_-@_-</c:formatCode>
                <c:ptCount val="12"/>
                <c:pt idx="0">
                  <c:v>670380.2400000121</c:v>
                </c:pt>
                <c:pt idx="1">
                  <c:v>507783.42000002734</c:v>
                </c:pt>
                <c:pt idx="2">
                  <c:v>689708.4900000185</c:v>
                </c:pt>
                <c:pt idx="3">
                  <c:v>515371.41000002576</c:v>
                </c:pt>
                <c:pt idx="4">
                  <c:v>739916.81000001007</c:v>
                </c:pt>
                <c:pt idx="5">
                  <c:v>737558.98000002268</c:v>
                </c:pt>
                <c:pt idx="6">
                  <c:v>688144.79000002996</c:v>
                </c:pt>
                <c:pt idx="7">
                  <c:v>724196.76000001642</c:v>
                </c:pt>
                <c:pt idx="8">
                  <c:v>1196779.50000001</c:v>
                </c:pt>
                <c:pt idx="9">
                  <c:v>1103310.9599999452</c:v>
                </c:pt>
                <c:pt idx="10">
                  <c:v>1452112.6899997529</c:v>
                </c:pt>
                <c:pt idx="11">
                  <c:v>1221656.3899998832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9CF-4813-95B0-E0257CF969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73000224"/>
        <c:axId val="1073000944"/>
      </c:lineChart>
      <c:catAx>
        <c:axId val="10730002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3000944"/>
        <c:crosses val="autoZero"/>
        <c:auto val="1"/>
        <c:lblAlgn val="ctr"/>
        <c:lblOffset val="100"/>
        <c:noMultiLvlLbl val="0"/>
      </c:catAx>
      <c:valAx>
        <c:axId val="10730009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£-809]* #,##0_-;\-[$£-809]* #,##0_-;_-[$£-809]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3000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tx1"/>
      </a:solidFill>
      <a:round/>
    </a:ln>
    <a:effectLst/>
    <a:scene3d>
      <a:camera prst="orthographicFront"/>
      <a:lightRig rig="threePt" dir="t"/>
    </a:scene3d>
    <a:sp3d prstMaterial="metal">
      <a:bevelT w="88900" h="88900"/>
    </a:sp3d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[E-commerse data cleaned(AutoRecovered).xlsx]Pivot Table!PivotTable10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PEAK HOUR ANALYSIS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>
            <a:gsLst>
              <a:gs pos="0">
                <a:schemeClr val="accent1">
                  <a:lumMod val="45000"/>
                  <a:lumOff val="55000"/>
                </a:schemeClr>
              </a:gs>
              <a:gs pos="100000">
                <a:srgbClr val="636E72"/>
              </a:gs>
            </a:gsLst>
            <a:lin ang="5400000" scaled="1"/>
          </a:grad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>
            <a:gsLst>
              <a:gs pos="0">
                <a:schemeClr val="accent1">
                  <a:lumMod val="45000"/>
                  <a:lumOff val="55000"/>
                </a:schemeClr>
              </a:gs>
              <a:gs pos="100000">
                <a:srgbClr val="636E72"/>
              </a:gs>
            </a:gsLst>
            <a:lin ang="5400000" scaled="1"/>
          </a:grad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>
            <a:gsLst>
              <a:gs pos="0">
                <a:schemeClr val="accent1">
                  <a:lumMod val="45000"/>
                  <a:lumOff val="55000"/>
                </a:schemeClr>
              </a:gs>
              <a:gs pos="100000">
                <a:srgbClr val="636E72"/>
              </a:gs>
            </a:gsLst>
            <a:lin ang="5400000" scaled="1"/>
          </a:grad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Table'!$N$20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c:spPr>
          <c:invertIfNegative val="0"/>
          <c:cat>
            <c:strRef>
              <c:f>'Pivot Table'!$M$21:$M$36</c:f>
              <c:strCache>
                <c:ptCount val="15"/>
                <c:pt idx="0">
                  <c:v>06</c:v>
                </c:pt>
                <c:pt idx="1">
                  <c:v>07</c:v>
                </c:pt>
                <c:pt idx="2">
                  <c:v>08</c:v>
                </c:pt>
                <c:pt idx="3">
                  <c:v>09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</c:strCache>
            </c:strRef>
          </c:cat>
          <c:val>
            <c:numRef>
              <c:f>'Pivot Table'!$N$21:$N$36</c:f>
              <c:numCache>
                <c:formatCode>0.00</c:formatCode>
                <c:ptCount val="15"/>
                <c:pt idx="0">
                  <c:v>1</c:v>
                </c:pt>
                <c:pt idx="1">
                  <c:v>375</c:v>
                </c:pt>
                <c:pt idx="2">
                  <c:v>8733</c:v>
                </c:pt>
                <c:pt idx="3">
                  <c:v>33477</c:v>
                </c:pt>
                <c:pt idx="4">
                  <c:v>47297</c:v>
                </c:pt>
                <c:pt idx="5">
                  <c:v>55204</c:v>
                </c:pt>
                <c:pt idx="6">
                  <c:v>75726</c:v>
                </c:pt>
                <c:pt idx="7">
                  <c:v>69716</c:v>
                </c:pt>
                <c:pt idx="8">
                  <c:v>64785</c:v>
                </c:pt>
                <c:pt idx="9">
                  <c:v>75283</c:v>
                </c:pt>
                <c:pt idx="10">
                  <c:v>52748</c:v>
                </c:pt>
                <c:pt idx="11">
                  <c:v>27322</c:v>
                </c:pt>
                <c:pt idx="12">
                  <c:v>7646</c:v>
                </c:pt>
                <c:pt idx="13">
                  <c:v>3422</c:v>
                </c:pt>
                <c:pt idx="14">
                  <c:v>777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C6-445A-9092-409840B65C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76159248"/>
        <c:axId val="1076160328"/>
      </c:barChart>
      <c:catAx>
        <c:axId val="10761592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6160328"/>
        <c:crosses val="autoZero"/>
        <c:auto val="1"/>
        <c:lblAlgn val="ctr"/>
        <c:lblOffset val="100"/>
        <c:noMultiLvlLbl val="0"/>
      </c:catAx>
      <c:valAx>
        <c:axId val="107616032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61592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tx1"/>
      </a:solidFill>
      <a:round/>
    </a:ln>
    <a:effectLst/>
    <a:scene3d>
      <a:camera prst="orthographicFront"/>
      <a:lightRig rig="threePt" dir="t"/>
    </a:scene3d>
    <a:sp3d prstMaterial="metal">
      <a:bevelT w="88900" h="88900"/>
    </a:sp3d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[E-commerse data cleaned(AutoRecovered).xlsx]Pivot Table!PivotTable9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NEW vs RETURNING CUSTOMERS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 cap="flat" cmpd="sng" algn="ctr">
            <a:solidFill>
              <a:schemeClr val="l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 cap="flat" cmpd="sng" algn="ctr">
            <a:solidFill>
              <a:schemeClr val="l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 cap="flat" cmpd="sng" algn="ctr">
            <a:solidFill>
              <a:schemeClr val="lt1"/>
            </a:solidFill>
            <a:round/>
          </a:ln>
          <a:effectLst/>
        </c:spPr>
      </c:pivotFmt>
      <c:pivotFmt>
        <c:idx val="3"/>
        <c:spPr>
          <a:solidFill>
            <a:schemeClr val="accent1"/>
          </a:solidFill>
          <a:ln w="19050" cap="flat" cmpd="sng" algn="ctr">
            <a:solidFill>
              <a:schemeClr val="lt1"/>
            </a:solidFill>
            <a:round/>
          </a:ln>
          <a:effectLst/>
        </c:spPr>
      </c:pivotFmt>
      <c:pivotFmt>
        <c:idx val="4"/>
        <c:spPr>
          <a:solidFill>
            <a:srgbClr val="636E72"/>
          </a:solidFill>
          <a:ln w="19050" cap="flat" cmpd="sng" algn="ctr">
            <a:solidFill>
              <a:schemeClr val="l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>
              <a:lumMod val="60000"/>
              <a:lumOff val="40000"/>
            </a:schemeClr>
          </a:solidFill>
          <a:ln w="19050" cap="flat" cmpd="sng" algn="ctr">
            <a:solidFill>
              <a:schemeClr val="lt1"/>
            </a:solidFill>
            <a:round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c:spPr>
        <c:dLbl>
          <c:idx val="0"/>
          <c:layout>
            <c:manualLayout>
              <c:x val="0.12676056338028177"/>
              <c:y val="-0.10035838517450398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636E72"/>
          </a:solidFill>
          <a:ln w="19050" cap="flat" cmpd="sng" algn="ctr">
            <a:solidFill>
              <a:schemeClr val="lt1"/>
            </a:solidFill>
            <a:round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c:spPr>
        <c:dLbl>
          <c:idx val="0"/>
          <c:layout>
            <c:manualLayout>
              <c:x val="-9.8591549295774641E-2"/>
              <c:y val="0.1146952973422900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636E72"/>
          </a:solidFill>
          <a:ln w="19050" cap="flat" cmpd="sng" algn="ctr">
            <a:solidFill>
              <a:schemeClr val="l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>
              <a:lumMod val="60000"/>
              <a:lumOff val="40000"/>
            </a:schemeClr>
          </a:solidFill>
          <a:ln w="19050" cap="flat" cmpd="sng" algn="ctr">
            <a:solidFill>
              <a:schemeClr val="lt1"/>
            </a:solidFill>
            <a:round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c:spPr>
        <c:dLbl>
          <c:idx val="0"/>
          <c:layout>
            <c:manualLayout>
              <c:x val="0.12676056338028177"/>
              <c:y val="-0.10035838517450398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rgbClr val="636E72"/>
          </a:solidFill>
          <a:ln w="19050" cap="flat" cmpd="sng" algn="ctr">
            <a:solidFill>
              <a:schemeClr val="lt1"/>
            </a:solidFill>
            <a:round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c:spPr>
        <c:dLbl>
          <c:idx val="0"/>
          <c:layout>
            <c:manualLayout>
              <c:x val="-9.8591549295774641E-2"/>
              <c:y val="0.1146952973422900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rgbClr val="636E72"/>
          </a:solidFill>
          <a:ln w="19050" cap="flat" cmpd="sng" algn="ctr">
            <a:solidFill>
              <a:schemeClr val="l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>
              <a:lumMod val="60000"/>
              <a:lumOff val="40000"/>
            </a:schemeClr>
          </a:solidFill>
          <a:ln w="19050" cap="flat" cmpd="sng" algn="ctr">
            <a:solidFill>
              <a:schemeClr val="lt1"/>
            </a:solidFill>
            <a:round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c:spPr>
        <c:dLbl>
          <c:idx val="0"/>
          <c:layout>
            <c:manualLayout>
              <c:x val="0.12676056338028177"/>
              <c:y val="-0.10035838517450398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rgbClr val="636E72"/>
          </a:solidFill>
          <a:ln w="19050" cap="flat" cmpd="sng" algn="ctr">
            <a:solidFill>
              <a:schemeClr val="lt1"/>
            </a:solidFill>
            <a:round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c:spPr>
        <c:dLbl>
          <c:idx val="0"/>
          <c:layout>
            <c:manualLayout>
              <c:x val="-9.8591549295774641E-2"/>
              <c:y val="0.1146952973422900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doughnutChart>
        <c:varyColors val="1"/>
        <c:ser>
          <c:idx val="0"/>
          <c:order val="0"/>
          <c:tx>
            <c:strRef>
              <c:f>'Pivot Table'!$K$20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1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1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04E7-4A38-B15A-E380CA2CC90F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2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2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2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04E7-4A38-B15A-E380CA2CC90F}"/>
              </c:ext>
            </c:extLst>
          </c:dPt>
          <c:dLbls>
            <c:dLbl>
              <c:idx val="0"/>
              <c:layout>
                <c:manualLayout>
                  <c:x val="0.12676056338028177"/>
                  <c:y val="-0.1003583851745039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4E7-4A38-B15A-E380CA2CC90F}"/>
                </c:ext>
              </c:extLst>
            </c:dLbl>
            <c:dLbl>
              <c:idx val="1"/>
              <c:layout>
                <c:manualLayout>
                  <c:x val="-9.8591549295774641E-2"/>
                  <c:y val="0.1146952973422900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4E7-4A38-B15A-E380CA2CC90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tx1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'Pivot Table'!$J$21:$J$23</c:f>
              <c:strCache>
                <c:ptCount val="2"/>
                <c:pt idx="0">
                  <c:v>New</c:v>
                </c:pt>
                <c:pt idx="1">
                  <c:v>Regular</c:v>
                </c:pt>
              </c:strCache>
            </c:strRef>
          </c:cat>
          <c:val>
            <c:numRef>
              <c:f>'Pivot Table'!$K$21:$K$23</c:f>
              <c:numCache>
                <c:formatCode>General</c:formatCode>
                <c:ptCount val="2"/>
                <c:pt idx="0">
                  <c:v>131363</c:v>
                </c:pt>
                <c:pt idx="1">
                  <c:v>391149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4E7-4A38-B15A-E380CA2CC9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F7E6D4"/>
    </a:solidFill>
    <a:ln>
      <a:noFill/>
    </a:ln>
    <a:effectLst/>
  </c:spPr>
  <c:txPr>
    <a:bodyPr/>
    <a:lstStyle/>
    <a:p>
      <a:pPr>
        <a:defRPr>
          <a:solidFill>
            <a:sysClr val="windowText" lastClr="000000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pivotSource>
    <c:name>[E-commerse data cleaned(AutoRecovered).xlsx]Pivot Table!PivotTable11</c:name>
    <c:fmtId val="2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I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CUSTOMER LOYALTY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dk1">
              <a:tint val="885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dk1">
              <a:tint val="885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dk1">
              <a:tint val="885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dk1">
              <a:tint val="885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dk1">
              <a:tint val="88500"/>
            </a:schemeClr>
          </a:solidFill>
          <a:ln w="28575" cap="rnd">
            <a:solidFill>
              <a:srgbClr val="00B0F0"/>
            </a:solidFill>
            <a:round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c:spPr>
        <c:marker>
          <c:symbol val="circle"/>
          <c:size val="5"/>
          <c:spPr>
            <a:solidFill>
              <a:srgbClr val="00B0F0"/>
            </a:solidFill>
            <a:ln w="9525">
              <a:solidFill>
                <a:schemeClr val="dk1">
                  <a:tint val="885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dk1">
              <a:tint val="88500"/>
            </a:schemeClr>
          </a:solidFill>
          <a:ln w="28575" cap="rnd">
            <a:solidFill>
              <a:srgbClr val="636E72"/>
            </a:solidFill>
            <a:round/>
          </a:ln>
          <a:effectLst>
            <a:glow>
              <a:schemeClr val="accent3">
                <a:satMod val="175000"/>
                <a:alpha val="40000"/>
              </a:schemeClr>
            </a:glow>
          </a:effectLst>
        </c:spPr>
        <c:marker>
          <c:symbol val="circle"/>
          <c:size val="5"/>
          <c:spPr>
            <a:solidFill>
              <a:schemeClr val="dk1">
                <a:tint val="55000"/>
              </a:schemeClr>
            </a:solidFill>
            <a:ln w="9525">
              <a:solidFill>
                <a:schemeClr val="dk1">
                  <a:tint val="55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dk1">
              <a:tint val="88500"/>
            </a:schemeClr>
          </a:solidFill>
          <a:ln w="28575" cap="rnd">
            <a:solidFill>
              <a:srgbClr val="00B0F0"/>
            </a:solidFill>
            <a:round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c:spPr>
        <c:marker>
          <c:symbol val="circle"/>
          <c:size val="5"/>
          <c:spPr>
            <a:solidFill>
              <a:srgbClr val="00B0F0"/>
            </a:solidFill>
            <a:ln w="9525">
              <a:solidFill>
                <a:schemeClr val="dk1">
                  <a:tint val="88500"/>
                </a:schemeClr>
              </a:solidFill>
            </a:ln>
            <a:effectLst/>
          </c:spPr>
        </c:marker>
      </c:pivotFmt>
      <c:pivotFmt>
        <c:idx val="7"/>
        <c:spPr>
          <a:solidFill>
            <a:schemeClr val="dk1">
              <a:tint val="88500"/>
            </a:schemeClr>
          </a:solidFill>
          <a:ln w="28575" cap="rnd">
            <a:solidFill>
              <a:schemeClr val="dk1">
                <a:tint val="88500"/>
              </a:schemeClr>
            </a:solidFill>
            <a:round/>
          </a:ln>
          <a:effectLst/>
        </c:spPr>
        <c:marker>
          <c:spPr>
            <a:solidFill>
              <a:schemeClr val="dk1">
                <a:tint val="88500"/>
              </a:schemeClr>
            </a:solidFill>
            <a:ln w="9525">
              <a:solidFill>
                <a:schemeClr val="dk1">
                  <a:tint val="885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dk1">
              <a:tint val="88500"/>
            </a:schemeClr>
          </a:solidFill>
          <a:ln w="28575" cap="rnd">
            <a:solidFill>
              <a:srgbClr val="00B0F0"/>
            </a:solidFill>
            <a:round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c:spPr>
        <c:marker>
          <c:symbol val="circle"/>
          <c:size val="5"/>
          <c:spPr>
            <a:solidFill>
              <a:srgbClr val="00B0F0"/>
            </a:solidFill>
            <a:ln w="9525">
              <a:solidFill>
                <a:schemeClr val="dk1">
                  <a:tint val="885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dk1">
              <a:tint val="88500"/>
            </a:schemeClr>
          </a:solidFill>
          <a:ln w="28575" cap="rnd">
            <a:solidFill>
              <a:srgbClr val="636E72"/>
            </a:solidFill>
            <a:round/>
          </a:ln>
          <a:effectLst>
            <a:glow>
              <a:schemeClr val="accent3">
                <a:satMod val="175000"/>
                <a:alpha val="40000"/>
              </a:schemeClr>
            </a:glow>
          </a:effectLst>
        </c:spPr>
        <c:marker>
          <c:symbol val="circle"/>
          <c:size val="5"/>
          <c:spPr>
            <a:solidFill>
              <a:schemeClr val="dk1">
                <a:tint val="55000"/>
              </a:schemeClr>
            </a:solidFill>
            <a:ln w="9525">
              <a:solidFill>
                <a:schemeClr val="dk1">
                  <a:tint val="55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dk1">
              <a:tint val="88500"/>
            </a:schemeClr>
          </a:solidFill>
          <a:ln w="28575" cap="rnd">
            <a:solidFill>
              <a:srgbClr val="00B0F0"/>
            </a:solidFill>
            <a:round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c:spPr>
        <c:marker>
          <c:symbol val="circle"/>
          <c:size val="5"/>
          <c:spPr>
            <a:solidFill>
              <a:srgbClr val="00B0F0"/>
            </a:solidFill>
            <a:ln w="9525">
              <a:solidFill>
                <a:schemeClr val="dk1">
                  <a:tint val="885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dk1">
              <a:tint val="88500"/>
            </a:schemeClr>
          </a:solidFill>
          <a:ln w="28575" cap="rnd">
            <a:solidFill>
              <a:srgbClr val="636E72"/>
            </a:solidFill>
            <a:round/>
          </a:ln>
          <a:effectLst>
            <a:glow>
              <a:schemeClr val="accent3">
                <a:satMod val="175000"/>
                <a:alpha val="40000"/>
              </a:schemeClr>
            </a:glow>
          </a:effectLst>
        </c:spPr>
        <c:marker>
          <c:symbol val="circle"/>
          <c:size val="5"/>
          <c:spPr>
            <a:solidFill>
              <a:schemeClr val="dk1">
                <a:tint val="55000"/>
              </a:schemeClr>
            </a:solidFill>
            <a:ln w="9525">
              <a:solidFill>
                <a:schemeClr val="dk1">
                  <a:tint val="55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percentStacked"/>
        <c:varyColors val="0"/>
        <c:ser>
          <c:idx val="0"/>
          <c:order val="0"/>
          <c:tx>
            <c:strRef>
              <c:f>'Pivot Table'!$T$3:$T$4</c:f>
              <c:strCache>
                <c:ptCount val="1"/>
                <c:pt idx="0">
                  <c:v>New</c:v>
                </c:pt>
              </c:strCache>
            </c:strRef>
          </c:tx>
          <c:spPr>
            <a:ln w="28575" cap="rnd">
              <a:solidFill>
                <a:srgbClr val="CC563B"/>
              </a:solidFill>
              <a:round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c:spPr>
          <c:marker>
            <c:symbol val="circle"/>
            <c:size val="5"/>
            <c:spPr>
              <a:solidFill>
                <a:srgbClr val="CC563B"/>
              </a:solidFill>
              <a:ln w="9525">
                <a:solidFill>
                  <a:srgbClr val="CC563B"/>
                </a:solidFill>
              </a:ln>
              <a:effectLst/>
            </c:spPr>
          </c:marker>
          <c:cat>
            <c:strRef>
              <c:f>'Pivot Table'!$S$5:$S$43</c:f>
              <c:strCache>
                <c:ptCount val="38"/>
                <c:pt idx="0">
                  <c:v>United Kingdom</c:v>
                </c:pt>
                <c:pt idx="1">
                  <c:v>Netherlands</c:v>
                </c:pt>
                <c:pt idx="2">
                  <c:v>Ireland</c:v>
                </c:pt>
                <c:pt idx="3">
                  <c:v>Germany</c:v>
                </c:pt>
                <c:pt idx="4">
                  <c:v>France</c:v>
                </c:pt>
                <c:pt idx="5">
                  <c:v>Australia</c:v>
                </c:pt>
                <c:pt idx="6">
                  <c:v>Spain</c:v>
                </c:pt>
                <c:pt idx="7">
                  <c:v>Switzerland</c:v>
                </c:pt>
                <c:pt idx="8">
                  <c:v>Japan</c:v>
                </c:pt>
                <c:pt idx="9">
                  <c:v>Belgium</c:v>
                </c:pt>
                <c:pt idx="10">
                  <c:v>Sweden</c:v>
                </c:pt>
                <c:pt idx="11">
                  <c:v>Norway</c:v>
                </c:pt>
                <c:pt idx="12">
                  <c:v>Portugal</c:v>
                </c:pt>
                <c:pt idx="13">
                  <c:v>Channel Islands</c:v>
                </c:pt>
                <c:pt idx="14">
                  <c:v>Finland</c:v>
                </c:pt>
                <c:pt idx="15">
                  <c:v>Denmark</c:v>
                </c:pt>
                <c:pt idx="16">
                  <c:v>Italy</c:v>
                </c:pt>
                <c:pt idx="17">
                  <c:v>Cyprus</c:v>
                </c:pt>
                <c:pt idx="18">
                  <c:v>Hong Kong</c:v>
                </c:pt>
                <c:pt idx="19">
                  <c:v>Singapore</c:v>
                </c:pt>
                <c:pt idx="20">
                  <c:v>Austria</c:v>
                </c:pt>
                <c:pt idx="21">
                  <c:v>Israel</c:v>
                </c:pt>
                <c:pt idx="22">
                  <c:v>Poland</c:v>
                </c:pt>
                <c:pt idx="23">
                  <c:v>New Zealand</c:v>
                </c:pt>
                <c:pt idx="24">
                  <c:v>Greece</c:v>
                </c:pt>
                <c:pt idx="25">
                  <c:v>Iceland</c:v>
                </c:pt>
                <c:pt idx="26">
                  <c:v>USA</c:v>
                </c:pt>
                <c:pt idx="27">
                  <c:v>Canada</c:v>
                </c:pt>
                <c:pt idx="28">
                  <c:v>Malta</c:v>
                </c:pt>
                <c:pt idx="29">
                  <c:v>United Arab Emirates</c:v>
                </c:pt>
                <c:pt idx="30">
                  <c:v>Lebanon</c:v>
                </c:pt>
                <c:pt idx="31">
                  <c:v>Lithuania</c:v>
                </c:pt>
                <c:pt idx="32">
                  <c:v>European Community</c:v>
                </c:pt>
                <c:pt idx="33">
                  <c:v>Brazil</c:v>
                </c:pt>
                <c:pt idx="34">
                  <c:v>RSA</c:v>
                </c:pt>
                <c:pt idx="35">
                  <c:v>Czech Republic</c:v>
                </c:pt>
                <c:pt idx="36">
                  <c:v>Bahrain</c:v>
                </c:pt>
                <c:pt idx="37">
                  <c:v>Saudi Arabia</c:v>
                </c:pt>
              </c:strCache>
            </c:strRef>
          </c:cat>
          <c:val>
            <c:numRef>
              <c:f>'Pivot Table'!$T$5:$T$43</c:f>
              <c:numCache>
                <c:formatCode>General</c:formatCode>
                <c:ptCount val="38"/>
                <c:pt idx="0" formatCode="_-[$£-809]* #,##0.00_-;\-[$£-809]* #,##0.00_-;_-[$£-809]* &quot;-&quot;??_-;_-@_-">
                  <c:v>1481293.3699996024</c:v>
                </c:pt>
                <c:pt idx="2" formatCode="_-[$£-809]* #,##0.00_-;\-[$£-809]* #,##0.00_-;_-[$£-809]* &quot;-&quot;??_-;_-@_-">
                  <c:v>13837.739999999987</c:v>
                </c:pt>
                <c:pt idx="4" formatCode="_-[$£-809]* #,##0.00_-;\-[$£-809]* #,##0.00_-;_-[$£-809]* &quot;-&quot;??_-;_-@_-">
                  <c:v>691.06000000000063</c:v>
                </c:pt>
                <c:pt idx="7" formatCode="_-[$£-809]* #,##0.00_-;\-[$£-809]* #,##0.00_-;_-[$£-809]* &quot;-&quot;??_-;_-@_-">
                  <c:v>623.64999999999964</c:v>
                </c:pt>
                <c:pt idx="12" formatCode="_-[$£-809]* #,##0.00_-;\-[$£-809]* #,##0.00_-;_-[$£-809]* &quot;-&quot;??_-;_-@_-">
                  <c:v>307.20999999999998</c:v>
                </c:pt>
                <c:pt idx="18" formatCode="_-[$£-809]* #,##0.00_-;\-[$£-809]* #,##0.00_-;_-[$£-809]* &quot;-&quot;??_-;_-@_-">
                  <c:v>9744.1899999999987</c:v>
                </c:pt>
                <c:pt idx="21" formatCode="_-[$£-809]* #,##0.00_-;\-[$£-809]* #,##0.00_-;_-[$£-809]* &quot;-&quot;??_-;_-@_-">
                  <c:v>913.57</c:v>
                </c:pt>
                <c:pt idx="23" formatCode="_-[$£-809]* #,##0.00_-;\-[$£-809]* #,##0.00_-;_-[$£-809]* &quot;-&quot;??_-;_-@_-">
                  <c:v>2080.1699999999996</c:v>
                </c:pt>
                <c:pt idx="36" formatCode="_-[$£-809]* #,##0.00_-;\-[$£-809]* #,##0.00_-;_-[$£-809]* &quot;-&quot;??_-;_-@_-">
                  <c:v>205.74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2EB-4859-A4D5-D7CAF5BA8916}"/>
            </c:ext>
          </c:extLst>
        </c:ser>
        <c:ser>
          <c:idx val="1"/>
          <c:order val="1"/>
          <c:tx>
            <c:strRef>
              <c:f>'Pivot Table'!$U$3:$U$4</c:f>
              <c:strCache>
                <c:ptCount val="1"/>
                <c:pt idx="0">
                  <c:v>Regular</c:v>
                </c:pt>
              </c:strCache>
            </c:strRef>
          </c:tx>
          <c:spPr>
            <a:ln w="28575" cap="rnd">
              <a:solidFill>
                <a:schemeClr val="dk1">
                  <a:tint val="5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dk1">
                  <a:tint val="55000"/>
                </a:schemeClr>
              </a:solidFill>
              <a:ln w="9525">
                <a:solidFill>
                  <a:schemeClr val="dk1">
                    <a:tint val="55000"/>
                  </a:schemeClr>
                </a:solidFill>
              </a:ln>
              <a:effectLst/>
            </c:spPr>
          </c:marker>
          <c:cat>
            <c:strRef>
              <c:f>'Pivot Table'!$S$5:$S$43</c:f>
              <c:strCache>
                <c:ptCount val="38"/>
                <c:pt idx="0">
                  <c:v>United Kingdom</c:v>
                </c:pt>
                <c:pt idx="1">
                  <c:v>Netherlands</c:v>
                </c:pt>
                <c:pt idx="2">
                  <c:v>Ireland</c:v>
                </c:pt>
                <c:pt idx="3">
                  <c:v>Germany</c:v>
                </c:pt>
                <c:pt idx="4">
                  <c:v>France</c:v>
                </c:pt>
                <c:pt idx="5">
                  <c:v>Australia</c:v>
                </c:pt>
                <c:pt idx="6">
                  <c:v>Spain</c:v>
                </c:pt>
                <c:pt idx="7">
                  <c:v>Switzerland</c:v>
                </c:pt>
                <c:pt idx="8">
                  <c:v>Japan</c:v>
                </c:pt>
                <c:pt idx="9">
                  <c:v>Belgium</c:v>
                </c:pt>
                <c:pt idx="10">
                  <c:v>Sweden</c:v>
                </c:pt>
                <c:pt idx="11">
                  <c:v>Norway</c:v>
                </c:pt>
                <c:pt idx="12">
                  <c:v>Portugal</c:v>
                </c:pt>
                <c:pt idx="13">
                  <c:v>Channel Islands</c:v>
                </c:pt>
                <c:pt idx="14">
                  <c:v>Finland</c:v>
                </c:pt>
                <c:pt idx="15">
                  <c:v>Denmark</c:v>
                </c:pt>
                <c:pt idx="16">
                  <c:v>Italy</c:v>
                </c:pt>
                <c:pt idx="17">
                  <c:v>Cyprus</c:v>
                </c:pt>
                <c:pt idx="18">
                  <c:v>Hong Kong</c:v>
                </c:pt>
                <c:pt idx="19">
                  <c:v>Singapore</c:v>
                </c:pt>
                <c:pt idx="20">
                  <c:v>Austria</c:v>
                </c:pt>
                <c:pt idx="21">
                  <c:v>Israel</c:v>
                </c:pt>
                <c:pt idx="22">
                  <c:v>Poland</c:v>
                </c:pt>
                <c:pt idx="23">
                  <c:v>New Zealand</c:v>
                </c:pt>
                <c:pt idx="24">
                  <c:v>Greece</c:v>
                </c:pt>
                <c:pt idx="25">
                  <c:v>Iceland</c:v>
                </c:pt>
                <c:pt idx="26">
                  <c:v>USA</c:v>
                </c:pt>
                <c:pt idx="27">
                  <c:v>Canada</c:v>
                </c:pt>
                <c:pt idx="28">
                  <c:v>Malta</c:v>
                </c:pt>
                <c:pt idx="29">
                  <c:v>United Arab Emirates</c:v>
                </c:pt>
                <c:pt idx="30">
                  <c:v>Lebanon</c:v>
                </c:pt>
                <c:pt idx="31">
                  <c:v>Lithuania</c:v>
                </c:pt>
                <c:pt idx="32">
                  <c:v>European Community</c:v>
                </c:pt>
                <c:pt idx="33">
                  <c:v>Brazil</c:v>
                </c:pt>
                <c:pt idx="34">
                  <c:v>RSA</c:v>
                </c:pt>
                <c:pt idx="35">
                  <c:v>Czech Republic</c:v>
                </c:pt>
                <c:pt idx="36">
                  <c:v>Bahrain</c:v>
                </c:pt>
                <c:pt idx="37">
                  <c:v>Saudi Arabia</c:v>
                </c:pt>
              </c:strCache>
            </c:strRef>
          </c:cat>
          <c:val>
            <c:numRef>
              <c:f>'Pivot Table'!$U$5:$U$43</c:f>
              <c:numCache>
                <c:formatCode>_-[$£-809]* #,##0.00_-;\-[$£-809]* #,##0.00_-;_-[$£-809]* "-"??_-;_-@_-</c:formatCode>
                <c:ptCount val="38"/>
                <c:pt idx="0">
                  <c:v>7242851.420002914</c:v>
                </c:pt>
                <c:pt idx="1">
                  <c:v>283889.33999999985</c:v>
                </c:pt>
                <c:pt idx="2">
                  <c:v>257013.11999999869</c:v>
                </c:pt>
                <c:pt idx="3">
                  <c:v>205381.14999999895</c:v>
                </c:pt>
                <c:pt idx="4">
                  <c:v>183801.93999999994</c:v>
                </c:pt>
                <c:pt idx="5">
                  <c:v>138103.80999999965</c:v>
                </c:pt>
                <c:pt idx="6">
                  <c:v>55706.55999999999</c:v>
                </c:pt>
                <c:pt idx="7">
                  <c:v>52441.950000000048</c:v>
                </c:pt>
                <c:pt idx="8">
                  <c:v>37416.370000000017</c:v>
                </c:pt>
                <c:pt idx="9">
                  <c:v>36927.339999999967</c:v>
                </c:pt>
                <c:pt idx="10">
                  <c:v>36828.83</c:v>
                </c:pt>
                <c:pt idx="11">
                  <c:v>32454.640000000025</c:v>
                </c:pt>
                <c:pt idx="12">
                  <c:v>26643.900000000005</c:v>
                </c:pt>
                <c:pt idx="13">
                  <c:v>19997.539999999957</c:v>
                </c:pt>
                <c:pt idx="14">
                  <c:v>18344.879999999972</c:v>
                </c:pt>
                <c:pt idx="15">
                  <c:v>18211.34</c:v>
                </c:pt>
                <c:pt idx="16">
                  <c:v>15820.240000000009</c:v>
                </c:pt>
                <c:pt idx="17">
                  <c:v>13167.160000000002</c:v>
                </c:pt>
                <c:pt idx="19">
                  <c:v>9120.39</c:v>
                </c:pt>
                <c:pt idx="20">
                  <c:v>8742.68</c:v>
                </c:pt>
                <c:pt idx="21">
                  <c:v>7215.8399999999965</c:v>
                </c:pt>
                <c:pt idx="22">
                  <c:v>6974.6499999999969</c:v>
                </c:pt>
                <c:pt idx="23">
                  <c:v>2660.7700000000004</c:v>
                </c:pt>
                <c:pt idx="24">
                  <c:v>4425.5200000000004</c:v>
                </c:pt>
                <c:pt idx="25">
                  <c:v>4309.9999999999982</c:v>
                </c:pt>
                <c:pt idx="26">
                  <c:v>3580.3900000000008</c:v>
                </c:pt>
                <c:pt idx="27">
                  <c:v>3115.44</c:v>
                </c:pt>
                <c:pt idx="28">
                  <c:v>2070.5899999999997</c:v>
                </c:pt>
                <c:pt idx="29">
                  <c:v>1864.7800000000007</c:v>
                </c:pt>
                <c:pt idx="30">
                  <c:v>1693.8799999999997</c:v>
                </c:pt>
                <c:pt idx="31">
                  <c:v>1661.06</c:v>
                </c:pt>
                <c:pt idx="32">
                  <c:v>1159.2500000000002</c:v>
                </c:pt>
                <c:pt idx="33">
                  <c:v>1143.5999999999999</c:v>
                </c:pt>
                <c:pt idx="34">
                  <c:v>1002.31</c:v>
                </c:pt>
                <c:pt idx="35">
                  <c:v>786.74000000000012</c:v>
                </c:pt>
                <c:pt idx="36">
                  <c:v>548.4</c:v>
                </c:pt>
                <c:pt idx="37">
                  <c:v>145.91999999999999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2EB-4859-A4D5-D7CAF5BA89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73042848"/>
        <c:axId val="1076159608"/>
      </c:lineChart>
      <c:catAx>
        <c:axId val="10730428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6159608"/>
        <c:crosses val="autoZero"/>
        <c:auto val="1"/>
        <c:lblAlgn val="ctr"/>
        <c:lblOffset val="100"/>
        <c:noMultiLvlLbl val="0"/>
      </c:catAx>
      <c:valAx>
        <c:axId val="1076159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30428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  <a:scene3d>
      <a:camera prst="orthographicFront"/>
      <a:lightRig rig="threePt" dir="t"/>
    </a:scene3d>
    <a:sp3d prstMaterial="metal">
      <a:bevelT w="88900" h="88900"/>
    </a:sp3d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[E-commerse data cleaned(AutoRecovered).xlsx]Returned!PivotTable15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200" b="1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RATE BY PRODUCT CATEGORY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2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D35400"/>
          </a:solidFill>
          <a:ln>
            <a:noFill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D35400"/>
          </a:solidFill>
          <a:ln>
            <a:noFill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D35400"/>
          </a:solidFill>
          <a:ln>
            <a:noFill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Returned!$B$3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Returned!$A$4:$A$16</c:f>
              <c:strCache>
                <c:ptCount val="12"/>
                <c:pt idx="0">
                  <c:v>Regency Cakestand 3 Tier</c:v>
                </c:pt>
                <c:pt idx="1">
                  <c:v>Jam Making Set With Jars</c:v>
                </c:pt>
                <c:pt idx="2">
                  <c:v>Set Of 3 Cake Tins Pantry Design </c:v>
                </c:pt>
                <c:pt idx="3">
                  <c:v>Roses Regency Teacup And Saucer </c:v>
                </c:pt>
                <c:pt idx="4">
                  <c:v>Strawberry Ceramic Trinket Box</c:v>
                </c:pt>
                <c:pt idx="5">
                  <c:v>Recipe Box Pantry Yellow Design</c:v>
                </c:pt>
                <c:pt idx="6">
                  <c:v>Jumbo Bag Red Retrospot</c:v>
                </c:pt>
                <c:pt idx="7">
                  <c:v>Lunch Bag Red Retrospot</c:v>
                </c:pt>
                <c:pt idx="8">
                  <c:v>Wood 2 Drawer Cabinet White Finish</c:v>
                </c:pt>
                <c:pt idx="9">
                  <c:v>White Hanging Heart T-Light Holder</c:v>
                </c:pt>
                <c:pt idx="10">
                  <c:v>Green Regency Teacup And Saucer</c:v>
                </c:pt>
                <c:pt idx="11">
                  <c:v>Red Retrospot Cake Stand</c:v>
                </c:pt>
              </c:strCache>
            </c:strRef>
          </c:cat>
          <c:val>
            <c:numRef>
              <c:f>Returned!$B$4:$B$16</c:f>
              <c:numCache>
                <c:formatCode>General</c:formatCode>
                <c:ptCount val="12"/>
                <c:pt idx="0">
                  <c:v>180</c:v>
                </c:pt>
                <c:pt idx="1">
                  <c:v>87</c:v>
                </c:pt>
                <c:pt idx="2">
                  <c:v>73</c:v>
                </c:pt>
                <c:pt idx="3">
                  <c:v>54</c:v>
                </c:pt>
                <c:pt idx="4">
                  <c:v>54</c:v>
                </c:pt>
                <c:pt idx="5">
                  <c:v>47</c:v>
                </c:pt>
                <c:pt idx="6">
                  <c:v>44</c:v>
                </c:pt>
                <c:pt idx="7">
                  <c:v>44</c:v>
                </c:pt>
                <c:pt idx="8">
                  <c:v>42</c:v>
                </c:pt>
                <c:pt idx="9">
                  <c:v>42</c:v>
                </c:pt>
                <c:pt idx="10">
                  <c:v>42</c:v>
                </c:pt>
                <c:pt idx="11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0D-448A-91AA-FBFB6D741A9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609987280"/>
        <c:axId val="609982600"/>
      </c:barChart>
      <c:catAx>
        <c:axId val="60998728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9982600"/>
        <c:crosses val="autoZero"/>
        <c:auto val="1"/>
        <c:lblAlgn val="ctr"/>
        <c:lblOffset val="100"/>
        <c:noMultiLvlLbl val="0"/>
      </c:catAx>
      <c:valAx>
        <c:axId val="60998260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099872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  <a:scene3d>
      <a:camera prst="orthographicFront"/>
      <a:lightRig rig="threePt" dir="t"/>
    </a:scene3d>
    <a:sp3d prstMaterial="metal">
      <a:bevelT w="88900" h="88900"/>
    </a:sp3d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[E-commerse data cleaned(AutoRecovered).xlsx]Pivot Table!PivotTable8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  <a:r>
              <a:rPr lang="en-US" sz="1200" b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</a:t>
            </a:r>
            <a:endParaRPr lang="en-US" sz="1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rgbClr val="D35400"/>
            </a:solidFill>
            <a:round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c:spPr>
        <c:marker>
          <c:symbol val="circle"/>
          <c:size val="5"/>
          <c:spPr>
            <a:solidFill>
              <a:srgbClr val="D35400"/>
            </a:solidFill>
            <a:ln w="9525">
              <a:solidFill>
                <a:schemeClr val="accent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rgbClr val="D35400"/>
            </a:solidFill>
            <a:round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c:spPr>
        <c:marker>
          <c:symbol val="circle"/>
          <c:size val="5"/>
          <c:spPr>
            <a:solidFill>
              <a:srgbClr val="D35400"/>
            </a:solidFill>
            <a:ln w="9525">
              <a:solidFill>
                <a:schemeClr val="accent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rgbClr val="D35400"/>
            </a:solidFill>
            <a:round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c:spPr>
        <c:marker>
          <c:symbol val="circle"/>
          <c:size val="5"/>
          <c:spPr>
            <a:solidFill>
              <a:srgbClr val="D35400"/>
            </a:solidFill>
            <a:ln w="9525">
              <a:solidFill>
                <a:schemeClr val="accent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'Pivot Table'!$Y$20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c:spPr>
          </c:marker>
          <c:cat>
            <c:strRef>
              <c:f>'Pivot Table'!$X$21:$X$33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'Pivot Table'!$Y$21:$Y$33</c:f>
              <c:numCache>
                <c:formatCode>_-[$£-809]* #,##0.00_-;\-[$£-809]* #,##0.00_-;_-[$£-809]* "-"??_-;_-@_-</c:formatCode>
                <c:ptCount val="12"/>
                <c:pt idx="0">
                  <c:v>-91525.049999999828</c:v>
                </c:pt>
                <c:pt idx="1">
                  <c:v>-8335.5199999999877</c:v>
                </c:pt>
                <c:pt idx="2">
                  <c:v>-10504.300000000028</c:v>
                </c:pt>
                <c:pt idx="3">
                  <c:v>-33316.060000000056</c:v>
                </c:pt>
                <c:pt idx="4">
                  <c:v>-8948.2299999999941</c:v>
                </c:pt>
                <c:pt idx="5">
                  <c:v>-13713.840000000007</c:v>
                </c:pt>
                <c:pt idx="6">
                  <c:v>-11407.259999999993</c:v>
                </c:pt>
                <c:pt idx="7">
                  <c:v>-22926.570000000072</c:v>
                </c:pt>
                <c:pt idx="8">
                  <c:v>-185450.24000000049</c:v>
                </c:pt>
                <c:pt idx="9">
                  <c:v>-41613.029999999984</c:v>
                </c:pt>
                <c:pt idx="10">
                  <c:v>-24991.440000000079</c:v>
                </c:pt>
                <c:pt idx="11">
                  <c:v>-23169.620000000039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29F-4766-AF6C-E39FB657CB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58081104"/>
        <c:axId val="458081464"/>
      </c:lineChart>
      <c:catAx>
        <c:axId val="458081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high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8081464"/>
        <c:crosses val="autoZero"/>
        <c:auto val="0"/>
        <c:lblAlgn val="ctr"/>
        <c:lblOffset val="0"/>
        <c:noMultiLvlLbl val="0"/>
      </c:catAx>
      <c:valAx>
        <c:axId val="458081464"/>
        <c:scaling>
          <c:orientation val="minMax"/>
        </c:scaling>
        <c:delete val="0"/>
        <c:axPos val="l"/>
        <c:numFmt formatCode="_-[$£-809]* #,##0.00_-;\-[$£-809]* #,##0.00_-;_-[$£-809]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80811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  <a:scene3d>
      <a:camera prst="orthographicFront"/>
      <a:lightRig rig="threePt" dir="t"/>
    </a:scene3d>
    <a:sp3d prstMaterial="metal">
      <a:bevelT w="88900" h="88900"/>
    </a:sp3d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pivotSource>
    <c:name>[E-commerse data cleaned(AutoRecovered).xlsx]Pivot Table!PivotTable4</c:name>
    <c:fmtId val="3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rgbClr val="4D4D4D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 sz="1200" b="1"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MONTHLY</a:t>
            </a:r>
            <a:r>
              <a:rPr lang="en-US" sz="1200" b="1" baseline="0"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REVENUE TREND</a:t>
            </a:r>
            <a:endParaRPr lang="en-US" sz="1200" b="1">
              <a:solidFill>
                <a:srgbClr val="4D4D4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rgbClr val="4D4D4D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3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3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3"/>
          </a:solidFill>
          <a:ln w="28575" cap="rnd">
            <a:solidFill>
              <a:srgbClr val="27AE60"/>
            </a:solidFill>
            <a:round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c:spPr>
        <c:marker>
          <c:symbol val="circle"/>
          <c:size val="5"/>
          <c:spPr>
            <a:solidFill>
              <a:srgbClr val="27AE60"/>
            </a:solidFill>
            <a:ln w="9525">
              <a:solidFill>
                <a:schemeClr val="accent3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3"/>
          </a:solidFill>
          <a:ln w="28575" cap="rnd">
            <a:solidFill>
              <a:srgbClr val="27AE60"/>
            </a:solidFill>
            <a:round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c:spPr>
        <c:marker>
          <c:symbol val="circle"/>
          <c:size val="5"/>
          <c:spPr>
            <a:solidFill>
              <a:srgbClr val="27AE60"/>
            </a:solidFill>
            <a:ln w="9525">
              <a:solidFill>
                <a:schemeClr val="accent3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3"/>
          </a:solidFill>
          <a:ln w="28575" cap="rnd">
            <a:solidFill>
              <a:srgbClr val="27AE60"/>
            </a:solidFill>
            <a:round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c:spPr>
        <c:marker>
          <c:symbol val="circle"/>
          <c:size val="5"/>
          <c:spPr>
            <a:solidFill>
              <a:srgbClr val="27AE60"/>
            </a:solidFill>
            <a:ln w="9525">
              <a:solidFill>
                <a:schemeClr val="accent3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'Pivot Table'!$K$3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rgbClr val="27AE60"/>
              </a:solidFill>
              <a:round/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c:spPr>
          <c:marker>
            <c:symbol val="circle"/>
            <c:size val="5"/>
            <c:spPr>
              <a:solidFill>
                <a:srgbClr val="27AE60"/>
              </a:solidFill>
              <a:ln w="9525">
                <a:solidFill>
                  <a:schemeClr val="accent3"/>
                </a:solidFill>
              </a:ln>
              <a:effectLst>
                <a:glow rad="63500">
                  <a:schemeClr val="accent6">
                    <a:satMod val="175000"/>
                    <a:alpha val="40000"/>
                  </a:schemeClr>
                </a:glow>
              </a:effectLst>
            </c:spPr>
          </c:marker>
          <c:cat>
            <c:strRef>
              <c:f>'Pivot Table'!$J$4:$J$16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'Pivot Table'!$K$4:$K$16</c:f>
              <c:numCache>
                <c:formatCode>_-[$£-809]* #,##0_-;\-[$£-809]* #,##0_-;_-[$£-809]* "-"??_-;_-@_-</c:formatCode>
                <c:ptCount val="12"/>
                <c:pt idx="0">
                  <c:v>670380.2400000121</c:v>
                </c:pt>
                <c:pt idx="1">
                  <c:v>507783.42000002734</c:v>
                </c:pt>
                <c:pt idx="2">
                  <c:v>689708.4900000185</c:v>
                </c:pt>
                <c:pt idx="3">
                  <c:v>515371.41000002576</c:v>
                </c:pt>
                <c:pt idx="4">
                  <c:v>739916.81000001007</c:v>
                </c:pt>
                <c:pt idx="5">
                  <c:v>737558.98000002268</c:v>
                </c:pt>
                <c:pt idx="6">
                  <c:v>688144.79000002996</c:v>
                </c:pt>
                <c:pt idx="7">
                  <c:v>724196.76000001642</c:v>
                </c:pt>
                <c:pt idx="8">
                  <c:v>1196779.50000001</c:v>
                </c:pt>
                <c:pt idx="9">
                  <c:v>1103310.9599999452</c:v>
                </c:pt>
                <c:pt idx="10">
                  <c:v>1452112.6899997529</c:v>
                </c:pt>
                <c:pt idx="11">
                  <c:v>1221656.3899998832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131-47C3-A693-71FE1E6D92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73000224"/>
        <c:axId val="1073000944"/>
      </c:lineChart>
      <c:catAx>
        <c:axId val="10730002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3000944"/>
        <c:crosses val="autoZero"/>
        <c:auto val="1"/>
        <c:lblAlgn val="ctr"/>
        <c:lblOffset val="100"/>
        <c:noMultiLvlLbl val="0"/>
      </c:catAx>
      <c:valAx>
        <c:axId val="10730009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£-809]* #,##0_-;\-[$£-809]* #,##0_-;_-[$£-809]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3000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  <a:scene3d>
      <a:camera prst="orthographicFront"/>
      <a:lightRig rig="threePt" dir="t"/>
    </a:scene3d>
    <a:sp3d prstMaterial="metal">
      <a:bevelT w="88900" h="88900"/>
    </a:sp3d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pivotSource>
    <c:name>[E-commerse data cleaned(AutoRecovered).xlsx]Pivot Table!PivotTable4</c:name>
    <c:fmtId val="2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rgbClr val="4D4D4D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 sz="1200" b="1"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MONTHLY</a:t>
            </a:r>
            <a:r>
              <a:rPr lang="en-US" sz="1200" b="1" baseline="0"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REVENUE TREND</a:t>
            </a:r>
            <a:endParaRPr lang="en-US" sz="1200" b="1">
              <a:solidFill>
                <a:srgbClr val="4D4D4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rgbClr val="4D4D4D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3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3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3"/>
          </a:solidFill>
          <a:ln w="28575" cap="rnd">
            <a:solidFill>
              <a:srgbClr val="27AE60"/>
            </a:solidFill>
            <a:round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c:spPr>
        <c:marker>
          <c:symbol val="circle"/>
          <c:size val="5"/>
          <c:spPr>
            <a:solidFill>
              <a:srgbClr val="27AE60"/>
            </a:solidFill>
            <a:ln w="9525">
              <a:solidFill>
                <a:schemeClr val="accent3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3"/>
          </a:solidFill>
          <a:ln w="28575" cap="rnd">
            <a:solidFill>
              <a:srgbClr val="27AE60"/>
            </a:solidFill>
            <a:round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c:spPr>
        <c:marker>
          <c:symbol val="circle"/>
          <c:size val="5"/>
          <c:spPr>
            <a:solidFill>
              <a:srgbClr val="27AE60"/>
            </a:solidFill>
            <a:ln w="9525">
              <a:solidFill>
                <a:schemeClr val="accent3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3"/>
          </a:solidFill>
          <a:ln w="28575" cap="rnd">
            <a:solidFill>
              <a:srgbClr val="27AE60"/>
            </a:solidFill>
            <a:round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c:spPr>
        <c:marker>
          <c:symbol val="circle"/>
          <c:size val="5"/>
          <c:spPr>
            <a:solidFill>
              <a:srgbClr val="27AE60"/>
            </a:solidFill>
            <a:ln w="9525">
              <a:solidFill>
                <a:schemeClr val="accent3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'Pivot Table'!$K$3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rgbClr val="27AE60"/>
              </a:solidFill>
              <a:round/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c:spPr>
          <c:marker>
            <c:symbol val="circle"/>
            <c:size val="5"/>
            <c:spPr>
              <a:solidFill>
                <a:srgbClr val="27AE60"/>
              </a:solidFill>
              <a:ln w="9525">
                <a:solidFill>
                  <a:schemeClr val="accent3"/>
                </a:solidFill>
              </a:ln>
              <a:effectLst>
                <a:glow rad="63500">
                  <a:schemeClr val="accent6">
                    <a:satMod val="175000"/>
                    <a:alpha val="40000"/>
                  </a:schemeClr>
                </a:glow>
              </a:effectLst>
            </c:spPr>
          </c:marker>
          <c:cat>
            <c:strRef>
              <c:f>'Pivot Table'!$J$4:$J$16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'Pivot Table'!$K$4:$K$16</c:f>
              <c:numCache>
                <c:formatCode>_-[$£-809]* #,##0_-;\-[$£-809]* #,##0_-;_-[$£-809]* "-"??_-;_-@_-</c:formatCode>
                <c:ptCount val="12"/>
                <c:pt idx="0">
                  <c:v>670380.2400000121</c:v>
                </c:pt>
                <c:pt idx="1">
                  <c:v>507783.42000002734</c:v>
                </c:pt>
                <c:pt idx="2">
                  <c:v>689708.4900000185</c:v>
                </c:pt>
                <c:pt idx="3">
                  <c:v>515371.41000002576</c:v>
                </c:pt>
                <c:pt idx="4">
                  <c:v>739916.81000001007</c:v>
                </c:pt>
                <c:pt idx="5">
                  <c:v>737558.98000002268</c:v>
                </c:pt>
                <c:pt idx="6">
                  <c:v>688144.79000002996</c:v>
                </c:pt>
                <c:pt idx="7">
                  <c:v>724196.76000001642</c:v>
                </c:pt>
                <c:pt idx="8">
                  <c:v>1196779.50000001</c:v>
                </c:pt>
                <c:pt idx="9">
                  <c:v>1103310.9599999452</c:v>
                </c:pt>
                <c:pt idx="10">
                  <c:v>1452112.6899997529</c:v>
                </c:pt>
                <c:pt idx="11">
                  <c:v>1221656.3899998832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88C-43D2-B088-B59030D688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73000224"/>
        <c:axId val="1073000944"/>
      </c:lineChart>
      <c:catAx>
        <c:axId val="10730002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3000944"/>
        <c:crosses val="autoZero"/>
        <c:auto val="1"/>
        <c:lblAlgn val="ctr"/>
        <c:lblOffset val="100"/>
        <c:noMultiLvlLbl val="0"/>
      </c:catAx>
      <c:valAx>
        <c:axId val="10730009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£-809]* #,##0_-;\-[$£-809]* #,##0_-;_-[$£-809]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3000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  <a:scene3d>
      <a:camera prst="orthographicFront"/>
      <a:lightRig rig="threePt" dir="t"/>
    </a:scene3d>
    <a:sp3d prstMaterial="metal">
      <a:bevelT w="88900" h="88900"/>
    </a:sp3d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pivotSource>
    <c:name>[E-commerse data cleaned(AutoRecovered).xlsx]Pivot Table!PivotTable4</c:name>
    <c:fmtId val="2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rgbClr val="4D4D4D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 sz="1200" b="1"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MONTHLY</a:t>
            </a:r>
            <a:r>
              <a:rPr lang="en-US" sz="1200" b="1" baseline="0"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REVENUE TREND</a:t>
            </a:r>
            <a:endParaRPr lang="en-US" sz="1200" b="1">
              <a:solidFill>
                <a:srgbClr val="4D4D4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rgbClr val="4D4D4D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3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3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3"/>
          </a:solidFill>
          <a:ln w="28575" cap="rnd">
            <a:solidFill>
              <a:srgbClr val="27AE60"/>
            </a:solidFill>
            <a:round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c:spPr>
        <c:marker>
          <c:symbol val="circle"/>
          <c:size val="5"/>
          <c:spPr>
            <a:solidFill>
              <a:srgbClr val="27AE60"/>
            </a:solidFill>
            <a:ln w="9525">
              <a:solidFill>
                <a:schemeClr val="accent3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3"/>
          </a:solidFill>
          <a:ln w="28575" cap="rnd">
            <a:solidFill>
              <a:srgbClr val="27AE60"/>
            </a:solidFill>
            <a:round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c:spPr>
        <c:marker>
          <c:symbol val="circle"/>
          <c:size val="5"/>
          <c:spPr>
            <a:solidFill>
              <a:srgbClr val="27AE60"/>
            </a:solidFill>
            <a:ln w="9525">
              <a:solidFill>
                <a:schemeClr val="accent3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3"/>
          </a:solidFill>
          <a:ln w="28575" cap="rnd">
            <a:solidFill>
              <a:srgbClr val="27AE60"/>
            </a:solidFill>
            <a:round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c:spPr>
        <c:marker>
          <c:symbol val="circle"/>
          <c:size val="5"/>
          <c:spPr>
            <a:solidFill>
              <a:srgbClr val="27AE60"/>
            </a:solidFill>
            <a:ln w="9525">
              <a:solidFill>
                <a:schemeClr val="accent3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'Pivot Table'!$K$3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rgbClr val="27AE60"/>
              </a:solidFill>
              <a:round/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c:spPr>
          <c:marker>
            <c:symbol val="circle"/>
            <c:size val="5"/>
            <c:spPr>
              <a:solidFill>
                <a:srgbClr val="27AE60"/>
              </a:solidFill>
              <a:ln w="9525">
                <a:solidFill>
                  <a:schemeClr val="accent3"/>
                </a:solidFill>
              </a:ln>
              <a:effectLst>
                <a:glow rad="63500">
                  <a:schemeClr val="accent6">
                    <a:satMod val="175000"/>
                    <a:alpha val="40000"/>
                  </a:schemeClr>
                </a:glow>
              </a:effectLst>
            </c:spPr>
          </c:marker>
          <c:cat>
            <c:strRef>
              <c:f>'Pivot Table'!$J$4:$J$16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'Pivot Table'!$K$4:$K$16</c:f>
              <c:numCache>
                <c:formatCode>_-[$£-809]* #,##0_-;\-[$£-809]* #,##0_-;_-[$£-809]* "-"??_-;_-@_-</c:formatCode>
                <c:ptCount val="12"/>
                <c:pt idx="0">
                  <c:v>670380.2400000121</c:v>
                </c:pt>
                <c:pt idx="1">
                  <c:v>507783.42000002734</c:v>
                </c:pt>
                <c:pt idx="2">
                  <c:v>689708.4900000185</c:v>
                </c:pt>
                <c:pt idx="3">
                  <c:v>515371.41000002576</c:v>
                </c:pt>
                <c:pt idx="4">
                  <c:v>739916.81000001007</c:v>
                </c:pt>
                <c:pt idx="5">
                  <c:v>737558.98000002268</c:v>
                </c:pt>
                <c:pt idx="6">
                  <c:v>688144.79000002996</c:v>
                </c:pt>
                <c:pt idx="7">
                  <c:v>724196.76000001642</c:v>
                </c:pt>
                <c:pt idx="8">
                  <c:v>1196779.50000001</c:v>
                </c:pt>
                <c:pt idx="9">
                  <c:v>1103310.9599999452</c:v>
                </c:pt>
                <c:pt idx="10">
                  <c:v>1452112.6899997529</c:v>
                </c:pt>
                <c:pt idx="11">
                  <c:v>1221656.3899998832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2B8-492A-A43B-89A798BF3F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73000224"/>
        <c:axId val="1073000944"/>
      </c:lineChart>
      <c:catAx>
        <c:axId val="10730002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3000944"/>
        <c:crosses val="autoZero"/>
        <c:auto val="1"/>
        <c:lblAlgn val="ctr"/>
        <c:lblOffset val="100"/>
        <c:noMultiLvlLbl val="0"/>
      </c:catAx>
      <c:valAx>
        <c:axId val="10730009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£-809]* #,##0_-;\-[$£-809]* #,##0_-;_-[$£-809]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3000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  <a:scene3d>
      <a:camera prst="orthographicFront"/>
      <a:lightRig rig="threePt" dir="t"/>
    </a:scene3d>
    <a:sp3d prstMaterial="metal">
      <a:bevelT w="88900" h="88900"/>
    </a:sp3d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pivotSource>
    <c:name>[E-commerse data cleaned(AutoRecovered).xlsx]Pivot Table!PivotTable4</c:name>
    <c:fmtId val="2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rgbClr val="4D4D4D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 sz="1200" b="1"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MONTHLY</a:t>
            </a:r>
            <a:r>
              <a:rPr lang="en-US" sz="1200" b="1" baseline="0"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REVENUE TREND</a:t>
            </a:r>
            <a:endParaRPr lang="en-US" sz="1200" b="1">
              <a:solidFill>
                <a:srgbClr val="4D4D4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rgbClr val="4D4D4D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3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3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3"/>
          </a:solidFill>
          <a:ln w="28575" cap="rnd">
            <a:solidFill>
              <a:srgbClr val="27AE60"/>
            </a:solidFill>
            <a:round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c:spPr>
        <c:marker>
          <c:symbol val="circle"/>
          <c:size val="5"/>
          <c:spPr>
            <a:solidFill>
              <a:srgbClr val="27AE60"/>
            </a:solidFill>
            <a:ln w="9525">
              <a:solidFill>
                <a:schemeClr val="accent3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3"/>
          </a:solidFill>
          <a:ln w="28575" cap="rnd">
            <a:solidFill>
              <a:srgbClr val="27AE60"/>
            </a:solidFill>
            <a:round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c:spPr>
        <c:marker>
          <c:symbol val="circle"/>
          <c:size val="5"/>
          <c:spPr>
            <a:solidFill>
              <a:srgbClr val="27AE60"/>
            </a:solidFill>
            <a:ln w="9525">
              <a:solidFill>
                <a:schemeClr val="accent3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3"/>
          </a:solidFill>
          <a:ln w="28575" cap="rnd">
            <a:solidFill>
              <a:srgbClr val="27AE60"/>
            </a:solidFill>
            <a:round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c:spPr>
        <c:marker>
          <c:symbol val="circle"/>
          <c:size val="5"/>
          <c:spPr>
            <a:solidFill>
              <a:srgbClr val="27AE60"/>
            </a:solidFill>
            <a:ln w="9525">
              <a:solidFill>
                <a:schemeClr val="accent3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'Pivot Table'!$K$3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rgbClr val="27AE60"/>
              </a:solidFill>
              <a:round/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c:spPr>
          <c:marker>
            <c:symbol val="circle"/>
            <c:size val="5"/>
            <c:spPr>
              <a:solidFill>
                <a:srgbClr val="27AE60"/>
              </a:solidFill>
              <a:ln w="9525">
                <a:solidFill>
                  <a:schemeClr val="accent3"/>
                </a:solidFill>
              </a:ln>
              <a:effectLst>
                <a:glow rad="63500">
                  <a:schemeClr val="accent6">
                    <a:satMod val="175000"/>
                    <a:alpha val="40000"/>
                  </a:schemeClr>
                </a:glow>
              </a:effectLst>
            </c:spPr>
          </c:marker>
          <c:cat>
            <c:strRef>
              <c:f>'Pivot Table'!$J$4:$J$16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'Pivot Table'!$K$4:$K$16</c:f>
              <c:numCache>
                <c:formatCode>_-[$£-809]* #,##0_-;\-[$£-809]* #,##0_-;_-[$£-809]* "-"??_-;_-@_-</c:formatCode>
                <c:ptCount val="12"/>
                <c:pt idx="0">
                  <c:v>670380.2400000121</c:v>
                </c:pt>
                <c:pt idx="1">
                  <c:v>507783.42000002734</c:v>
                </c:pt>
                <c:pt idx="2">
                  <c:v>689708.4900000185</c:v>
                </c:pt>
                <c:pt idx="3">
                  <c:v>515371.41000002576</c:v>
                </c:pt>
                <c:pt idx="4">
                  <c:v>739916.81000001007</c:v>
                </c:pt>
                <c:pt idx="5">
                  <c:v>737558.98000002268</c:v>
                </c:pt>
                <c:pt idx="6">
                  <c:v>688144.79000002996</c:v>
                </c:pt>
                <c:pt idx="7">
                  <c:v>724196.76000001642</c:v>
                </c:pt>
                <c:pt idx="8">
                  <c:v>1196779.50000001</c:v>
                </c:pt>
                <c:pt idx="9">
                  <c:v>1103310.9599999452</c:v>
                </c:pt>
                <c:pt idx="10">
                  <c:v>1452112.6899997529</c:v>
                </c:pt>
                <c:pt idx="11">
                  <c:v>1221656.3899998832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78F-4E64-812B-72B90A0B2B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73000224"/>
        <c:axId val="1073000944"/>
      </c:lineChart>
      <c:catAx>
        <c:axId val="10730002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3000944"/>
        <c:crosses val="autoZero"/>
        <c:auto val="1"/>
        <c:lblAlgn val="ctr"/>
        <c:lblOffset val="100"/>
        <c:noMultiLvlLbl val="0"/>
      </c:catAx>
      <c:valAx>
        <c:axId val="10730009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£-809]* #,##0_-;\-[$£-809]* #,##0_-;_-[$£-809]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3000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  <a:scene3d>
      <a:camera prst="orthographicFront"/>
      <a:lightRig rig="threePt" dir="t"/>
    </a:scene3d>
    <a:sp3d prstMaterial="metal">
      <a:bevelT w="88900" h="88900"/>
    </a:sp3d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8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9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10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4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/>
    <cs:fillRef idx="2">
      <cs:styleClr val="auto"/>
    </cs:fillRef>
    <cs:effectRef idx="1"/>
    <cs:fontRef idx="minor">
      <a:schemeClr val="dk1"/>
    </cs:fontRef>
    <cs:spPr/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jp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jp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4.jp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4.jpg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Autofit/>
          </a:bodyPr>
          <a:lstStyle>
            <a:lvl1pPr algn="l">
              <a:defRPr sz="6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65760" y="645300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6540A2A-5578-B047-A607-CB4F5628A42D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641392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7033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8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2000"/>
            </a:lvl2pPr>
            <a:lvl3pPr>
              <a:defRPr sz="2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690BC1B-9D1C-944E-987E-4C99541780F7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412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6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6" y="4731335"/>
            <a:ext cx="4361687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4AD05014-C39F-5246-98DD-E4D922ECDC9C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45736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1377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4898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6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65760" y="6453002"/>
            <a:ext cx="195177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738D450-E3FE-2A4E-AC56-63427DCC773C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835208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590849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EE3BD471-B3AB-52AD-E243-A411D22A30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60705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387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t">
            <a:normAutofit/>
          </a:bodyPr>
          <a:lstStyle>
            <a:lvl1pPr algn="l">
              <a:defRPr sz="9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1208" y="6453002"/>
            <a:ext cx="3494314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B5BBC2A-39E9-E745-869A-3DFEF0CBD201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511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anchor="b">
            <a:noAutofit/>
          </a:bodyPr>
          <a:lstStyle>
            <a:lvl1pPr algn="l">
              <a:defRPr sz="1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673DB68-38CE-354B-9260-12B5C94629BE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562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Autofit/>
          </a:bodyPr>
          <a:lstStyle>
            <a:lvl1pPr algn="ctr">
              <a:defRPr sz="9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7D831B3-9986-CB4D-98AB-F72D799770C8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225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Line">
            <a:extLst>
              <a:ext uri="{FF2B5EF4-FFF2-40B4-BE49-F238E27FC236}">
                <a16:creationId xmlns:a16="http://schemas.microsoft.com/office/drawing/2014/main" id="{AE8D7E1C-BD8A-2636-7E06-7D198D1681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030" y="5115839"/>
            <a:ext cx="10923934" cy="7451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634044"/>
            <a:ext cx="10923934" cy="4227782"/>
          </a:xfrm>
        </p:spPr>
        <p:txBody>
          <a:bodyPr anchor="b">
            <a:noAutofit/>
          </a:bodyPr>
          <a:lstStyle>
            <a:lvl1pPr algn="l">
              <a:lnSpc>
                <a:spcPct val="75000"/>
              </a:lnSpc>
              <a:defRPr sz="11600" spc="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5856285"/>
            <a:ext cx="9424374" cy="36576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98C60AE3-E908-DF41-84A2-DC8B7B32901C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73116" y="6453002"/>
            <a:ext cx="2805405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8757" y="6453002"/>
            <a:ext cx="429207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237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anchor="b">
            <a:normAutofit/>
          </a:bodyPr>
          <a:lstStyle>
            <a:lvl1pPr algn="l">
              <a:defRPr sz="9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" y="645300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1069D6-A2C3-AD44-ACFC-2D3F174E0036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1803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Line">
            <a:extLst>
              <a:ext uri="{FF2B5EF4-FFF2-40B4-BE49-F238E27FC236}">
                <a16:creationId xmlns:a16="http://schemas.microsoft.com/office/drawing/2014/main" id="{9B43CF31-7993-E1EC-6332-7EC081516F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030" y="5862884"/>
            <a:ext cx="10923934" cy="745198"/>
          </a:xfrm>
          <a:prstGeom prst="rect">
            <a:avLst/>
          </a:prstGeom>
        </p:spPr>
      </p:pic>
      <p:sp>
        <p:nvSpPr>
          <p:cNvPr id="49" name="Title 1">
            <a:extLst>
              <a:ext uri="{FF2B5EF4-FFF2-40B4-BE49-F238E27FC236}">
                <a16:creationId xmlns:a16="http://schemas.microsoft.com/office/drawing/2014/main" id="{0F499242-4D68-E0D9-7C3B-9B9D0D654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2129474"/>
            <a:ext cx="10923934" cy="3733410"/>
          </a:xfrm>
        </p:spPr>
        <p:txBody>
          <a:bodyPr lIns="0" tIns="0" rIns="0" bIns="0" anchor="b">
            <a:noAutofit/>
          </a:bodyPr>
          <a:lstStyle>
            <a:lvl1pPr>
              <a:lnSpc>
                <a:spcPct val="80000"/>
              </a:lnSpc>
              <a:defRPr sz="9400" b="0" i="0" cap="all" spc="-90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24" y="6453002"/>
            <a:ext cx="3494314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0613BFF-EB9B-B548-A0FD-59AF1D485CFC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30141" y="6453002"/>
            <a:ext cx="2805405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85782" y="6453002"/>
            <a:ext cx="429207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9132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Line">
            <a:extLst>
              <a:ext uri="{FF2B5EF4-FFF2-40B4-BE49-F238E27FC236}">
                <a16:creationId xmlns:a16="http://schemas.microsoft.com/office/drawing/2014/main" id="{2796F9B5-7FCA-165B-81FF-CCFC513610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030" y="5862884"/>
            <a:ext cx="10923934" cy="745198"/>
          </a:xfrm>
          <a:prstGeom prst="rect">
            <a:avLst/>
          </a:prstGeom>
        </p:spPr>
      </p:pic>
      <p:sp>
        <p:nvSpPr>
          <p:cNvPr id="54" name="Title 1">
            <a:extLst>
              <a:ext uri="{FF2B5EF4-FFF2-40B4-BE49-F238E27FC236}">
                <a16:creationId xmlns:a16="http://schemas.microsoft.com/office/drawing/2014/main" id="{D60062CE-FB5B-98B4-DD60-2BDB87915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2129474"/>
            <a:ext cx="10923934" cy="3727767"/>
          </a:xfrm>
        </p:spPr>
        <p:txBody>
          <a:bodyPr lIns="0" tIns="0" rIns="0" bIns="0" anchor="b">
            <a:noAutofit/>
          </a:bodyPr>
          <a:lstStyle>
            <a:lvl1pPr>
              <a:lnSpc>
                <a:spcPct val="80000"/>
              </a:lnSpc>
              <a:defRPr sz="9400" b="0" i="0" cap="all" spc="-9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1" name="Date Placeholder 3">
            <a:extLst>
              <a:ext uri="{FF2B5EF4-FFF2-40B4-BE49-F238E27FC236}">
                <a16:creationId xmlns:a16="http://schemas.microsoft.com/office/drawing/2014/main" id="{2F6A41B8-283F-AD78-7825-96B7410628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24" y="645300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613BFF-EB9B-B548-A0FD-59AF1D485CFC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52" name="Footer Placeholder 4">
            <a:extLst>
              <a:ext uri="{FF2B5EF4-FFF2-40B4-BE49-F238E27FC236}">
                <a16:creationId xmlns:a16="http://schemas.microsoft.com/office/drawing/2014/main" id="{27A23E48-70A1-5D87-06C3-5B994014D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30141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3" name="Slide Number Placeholder 5">
            <a:extLst>
              <a:ext uri="{FF2B5EF4-FFF2-40B4-BE49-F238E27FC236}">
                <a16:creationId xmlns:a16="http://schemas.microsoft.com/office/drawing/2014/main" id="{DC44A23F-66C2-EA6D-F59D-E9A91E0B2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85782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3833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Autofit/>
          </a:bodyPr>
          <a:lstStyle>
            <a:lvl1pPr>
              <a:defRPr sz="9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2000"/>
            </a:lvl2pPr>
            <a:lvl3pPr marL="457200" indent="0">
              <a:buFont typeface="Arial" panose="020B0604020202020204" pitchFamily="34" charset="0"/>
              <a:buNone/>
              <a:defRPr sz="20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6" y="6453002"/>
            <a:ext cx="3494314" cy="365125"/>
          </a:xfrm>
        </p:spPr>
        <p:txBody>
          <a:bodyPr/>
          <a:lstStyle/>
          <a:p>
            <a:fld id="{8B79F0DB-3AF1-4048-9F5A-962BE0B1A6D2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6219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FE1EB0A-550A-CEE3-A369-31648EABE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Autofit/>
          </a:bodyPr>
          <a:lstStyle>
            <a:lvl1pPr>
              <a:defRPr sz="9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C56172B-3A8C-FD41-E1AF-B7A6C221E5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68C1E06D-4640-E698-C102-34E6576B7E4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800">
                <a:solidFill>
                  <a:schemeClr val="tx2"/>
                </a:solidFill>
              </a:defRPr>
            </a:lvl1pPr>
            <a:lvl2pPr marL="228600" indent="0">
              <a:buFont typeface="+mj-lt"/>
              <a:buNone/>
              <a:defRPr sz="1800">
                <a:solidFill>
                  <a:schemeClr val="tx2"/>
                </a:solidFill>
              </a:defRPr>
            </a:lvl2pPr>
            <a:lvl3pPr marL="457200" indent="0">
              <a:buFont typeface="+mj-lt"/>
              <a:buNone/>
              <a:defRPr sz="180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sz="1800"/>
            </a:lvl4pPr>
            <a:lvl5pPr>
              <a:buFont typeface="+mj-lt"/>
              <a:buAutoNum type="arabicPeriod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F2FDAA79-3182-5335-A6FF-E32CCDE645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CE45A01-4A32-4AB4-BD6F-540E77D8A25B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3D92EE39-87E3-3370-9DE3-71700ED71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36592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1EFA36F7-B0F1-BB19-57FE-2EF517E55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2233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5557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Line">
            <a:extLst>
              <a:ext uri="{FF2B5EF4-FFF2-40B4-BE49-F238E27FC236}">
                <a16:creationId xmlns:a16="http://schemas.microsoft.com/office/drawing/2014/main" id="{EDA24A94-6BB7-BD99-F58E-599E702429E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029" y="3586186"/>
            <a:ext cx="5652471" cy="36576"/>
          </a:xfrm>
          <a:prstGeom prst="rect">
            <a:avLst/>
          </a:prstGeom>
        </p:spPr>
      </p:pic>
      <p:sp>
        <p:nvSpPr>
          <p:cNvPr id="36" name="Title 1">
            <a:extLst>
              <a:ext uri="{FF2B5EF4-FFF2-40B4-BE49-F238E27FC236}">
                <a16:creationId xmlns:a16="http://schemas.microsoft.com/office/drawing/2014/main" id="{BE740DFB-8275-3B3A-B23D-1A1F65B77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9"/>
            <a:ext cx="5652471" cy="224219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80000"/>
              </a:lnSpc>
              <a:defRPr sz="9400" b="0" i="0" cap="all" spc="-9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5" name="Content Placeholder 7">
            <a:extLst>
              <a:ext uri="{FF2B5EF4-FFF2-40B4-BE49-F238E27FC236}">
                <a16:creationId xmlns:a16="http://schemas.microsoft.com/office/drawing/2014/main" id="{281DE969-26C2-51F8-FB8C-5BF22649B3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4028" y="3981767"/>
            <a:ext cx="5652472" cy="2241234"/>
          </a:xfrm>
        </p:spPr>
        <p:txBody>
          <a:bodyPr anchor="ctr">
            <a:normAutofit/>
          </a:bodyPr>
          <a:lstStyle>
            <a:lvl1pPr marL="0" indent="0">
              <a:lnSpc>
                <a:spcPct val="85000"/>
              </a:lnSpc>
              <a:buFont typeface="Arial" panose="020B0604020202020204" pitchFamily="34" charset="0"/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  <a:lvl2pPr marL="228600" indent="0">
              <a:buFont typeface="+mj-lt"/>
              <a:buNone/>
              <a:defRPr>
                <a:solidFill>
                  <a:schemeClr val="tx2"/>
                </a:solidFill>
                <a:latin typeface="+mn-lt"/>
              </a:defRPr>
            </a:lvl2pPr>
            <a:lvl3pPr marL="457200" indent="0">
              <a:buFont typeface="+mj-lt"/>
              <a:buNone/>
              <a:defRPr>
                <a:solidFill>
                  <a:schemeClr val="tx2"/>
                </a:solidFill>
                <a:latin typeface="+mn-lt"/>
              </a:defRPr>
            </a:lvl3pPr>
            <a:lvl4pPr marL="685800" indent="0">
              <a:buFont typeface="+mj-lt"/>
              <a:buNone/>
              <a:defRPr/>
            </a:lvl4pPr>
            <a:lvl5pPr marL="914400" indent="0">
              <a:buFont typeface="+mj-lt"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Date Placeholder 4">
            <a:extLst>
              <a:ext uri="{FF2B5EF4-FFF2-40B4-BE49-F238E27FC236}">
                <a16:creationId xmlns:a16="http://schemas.microsoft.com/office/drawing/2014/main" id="{F6C9393C-BE33-3D7E-0B24-2B65765CE5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28" y="6453002"/>
            <a:ext cx="106762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A5181DF-A557-B54F-A3EC-E0F1AA454BFA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33" name="Footer Placeholder 5">
            <a:extLst>
              <a:ext uri="{FF2B5EF4-FFF2-40B4-BE49-F238E27FC236}">
                <a16:creationId xmlns:a16="http://schemas.microsoft.com/office/drawing/2014/main" id="{3AA959AD-0DC9-D641-41EF-9D2274727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01652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34" name="Slide Number Placeholder 6">
            <a:extLst>
              <a:ext uri="{FF2B5EF4-FFF2-40B4-BE49-F238E27FC236}">
                <a16:creationId xmlns:a16="http://schemas.microsoft.com/office/drawing/2014/main" id="{90330CCA-1CBB-B8FA-CFB6-4BF044837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7293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0" name="Picture Placeholder 10">
            <a:extLst>
              <a:ext uri="{FF2B5EF4-FFF2-40B4-BE49-F238E27FC236}">
                <a16:creationId xmlns:a16="http://schemas.microsoft.com/office/drawing/2014/main" id="{3DD4BE18-D8F5-E121-55F3-32B95583885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20529" y="0"/>
            <a:ext cx="5271472" cy="6858000"/>
          </a:xfrm>
          <a:blipFill dpi="0" rotWithShape="1">
            <a:blip r:embed="rId4">
              <a:alphaModFix amt="60000"/>
            </a:blip>
            <a:srcRect/>
            <a:stretch>
              <a:fillRect l="-220" t="-3607" r="-2165" b="-9034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7271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Autofit/>
          </a:bodyPr>
          <a:lstStyle>
            <a:lvl1pPr>
              <a:defRPr sz="6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8347" y="645300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7305EA6-BBAC-6E4B-964A-D6F60BBF3AB2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14064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9705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8846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Autofit/>
          </a:bodyPr>
          <a:lstStyle>
            <a:lvl1pPr>
              <a:defRPr sz="6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600"/>
            </a:lvl2pPr>
            <a:lvl3pPr marL="457200" indent="0">
              <a:buNone/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8347" y="6453002"/>
            <a:ext cx="3494314" cy="365125"/>
          </a:xfrm>
        </p:spPr>
        <p:txBody>
          <a:bodyPr/>
          <a:lstStyle/>
          <a:p>
            <a:fld id="{8852D022-5226-9D40-B82A-7D8C886A142E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91065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46706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7413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6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228600" indent="0">
              <a:buNone/>
              <a:defRPr sz="1600">
                <a:solidFill>
                  <a:schemeClr val="tx2"/>
                </a:solidFill>
              </a:defRPr>
            </a:lvl2pPr>
            <a:lvl3pPr marL="457200" indent="0">
              <a:buNone/>
              <a:defRPr sz="1600">
                <a:solidFill>
                  <a:schemeClr val="tx2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DA8D886-BBF3-7F4C-B754-2145FE7638AC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16552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72193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5390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Autofit/>
          </a:bodyPr>
          <a:lstStyle>
            <a:lvl1pPr>
              <a:defRPr sz="9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228600" indent="0">
              <a:buNone/>
              <a:defRPr sz="1600">
                <a:solidFill>
                  <a:schemeClr val="bg2"/>
                </a:solidFill>
              </a:defRPr>
            </a:lvl2pPr>
            <a:lvl3pPr marL="457200" indent="0">
              <a:buNone/>
              <a:defRPr sz="1600">
                <a:solidFill>
                  <a:schemeClr val="bg2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6" y="6453002"/>
            <a:ext cx="3494314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B6ADF20-7997-2546-8E91-4CD9ED2C6F32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9756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3206" y="6453002"/>
            <a:ext cx="429207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9964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Autofit/>
          </a:bodyPr>
          <a:lstStyle>
            <a:lvl1pPr>
              <a:defRPr sz="6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72533" y="645300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3A3023C-1830-6D43-8E15-68964EAA5E2E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34619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0260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9112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74C27216-5A6D-E1CC-74C5-D39B47557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5000"/>
            <a:ext cx="4714882" cy="5588000"/>
          </a:xfrm>
        </p:spPr>
        <p:txBody>
          <a:bodyPr anchor="t">
            <a:noAutofit/>
          </a:bodyPr>
          <a:lstStyle>
            <a:lvl1pPr>
              <a:defRPr sz="9400" b="0" i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86499" y="634999"/>
            <a:ext cx="5271465" cy="5588001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29" y="6453002"/>
            <a:ext cx="3494314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75DCFB8-B573-B542-A6DF-FEACB0967523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73116" y="6453002"/>
            <a:ext cx="2805405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8757" y="6453002"/>
            <a:ext cx="429207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4729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8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8"/>
            <a:ext cx="10923934" cy="14881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30" y="2495234"/>
            <a:ext cx="10923933" cy="3727766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6F5E3-6B8A-A44B-A708-59BA87FB9F0D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73115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8756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7536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E9E4503-ED11-3B45-96AC-CCA3E92ECD3F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2570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8134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2350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>
              <a:defRPr>
                <a:solidFill>
                  <a:srgbClr val="F7E6D4"/>
                </a:solidFill>
              </a:defRPr>
            </a:lvl2pPr>
            <a:lvl3pPr>
              <a:defRPr>
                <a:solidFill>
                  <a:srgbClr val="F7E6D4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FC8AA2BE-83A7-1947-89C5-48834C1E3938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563424" y="6453002"/>
            <a:ext cx="2805405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319065" y="6453002"/>
            <a:ext cx="429207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95612A9B-CA73-D0F3-ABE1-FC8E5A5819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98115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2184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98C8E2EF-2F89-AD4E-B95A-1681168A4D14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18888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74529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2563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42FFF45-ACEA-0D4C-9312-FDEE4F57D97C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392C2B09-FED9-CD68-EB19-3763685C191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6864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687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E9369B0F-403C-4542-9947-E363C5E8AC07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648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6289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477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8" y="6453002"/>
            <a:ext cx="203107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45B992E-E843-584E-AFD9-A9C0E437D7D0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8790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44431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EFE6CB20-8EB0-4BD7-42A4-F6F31D2460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0491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4071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6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4C9DE37-DBA8-BA4E-8AC6-A40B002F9FC3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2641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282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5206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6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8" y="6453002"/>
            <a:ext cx="203107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28E28E5-9286-7441-B61C-1E9A52BB0C7A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99800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55441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9B10CE38-B156-5DB3-6F00-712559E3B48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99760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089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Autofit/>
          </a:bodyPr>
          <a:lstStyle>
            <a:lvl1pPr>
              <a:defRPr sz="6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9ECEE58F-BD35-844C-990A-4489F9CE5036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640001" y="6453002"/>
            <a:ext cx="2546891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85024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170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Autofit/>
          </a:bodyPr>
          <a:lstStyle>
            <a:lvl1pPr>
              <a:defRPr sz="6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8" y="6453002"/>
            <a:ext cx="106762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352D23B-3669-BD4A-9D0C-C9C6F7026685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0729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80983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11223B47-5C7F-2986-2E32-2E065C5989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07856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9377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E344C25F-7EE2-4F47-AA90-C1721704504B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12295" y="6453002"/>
            <a:ext cx="233516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7447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9189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Autofit/>
          </a:bodyPr>
          <a:lstStyle>
            <a:lvl1pPr>
              <a:defRPr sz="6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733" y="6453002"/>
            <a:ext cx="3494314" cy="365125"/>
          </a:xfrm>
        </p:spPr>
        <p:txBody>
          <a:bodyPr/>
          <a:lstStyle/>
          <a:p>
            <a:fld id="{B9D9A934-EF35-DA4D-BB5A-2E2D4FDEA36C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65192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0833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3489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Autofit/>
          </a:bodyPr>
          <a:lstStyle>
            <a:lvl1pPr>
              <a:defRPr sz="6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733" y="6453002"/>
            <a:ext cx="3494314" cy="365125"/>
          </a:xfrm>
        </p:spPr>
        <p:txBody>
          <a:bodyPr/>
          <a:lstStyle/>
          <a:p>
            <a:fld id="{27720244-97B8-B04B-BB8D-14E8A439A1F8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65192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0833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44866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Autofit/>
          </a:bodyPr>
          <a:lstStyle>
            <a:lvl1pPr>
              <a:defRPr sz="6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733" y="59778"/>
            <a:ext cx="3494314" cy="365125"/>
          </a:xfrm>
        </p:spPr>
        <p:txBody>
          <a:bodyPr/>
          <a:lstStyle/>
          <a:p>
            <a:fld id="{BEF3566B-9796-DD44-A7B6-82B8E3F64E1B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65192" y="59778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0833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C3400347-8F48-BD20-1228-D48AB286636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59057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>
            <a:lvl1pPr>
              <a:defRPr sz="9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18288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428E69D-3BAD-E543-9A7D-D90E1713FABF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9450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014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10879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Autofit/>
          </a:bodyPr>
          <a:lstStyle>
            <a:lvl1pPr>
              <a:defRPr sz="6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8" y="2290890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F7988-DCFE-CF43-B8A3-11EDB5535CE4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97077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71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23696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Autofit/>
          </a:bodyPr>
          <a:lstStyle>
            <a:lvl1pPr>
              <a:defRPr sz="6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1521" y="645300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0A2866-955E-AF4D-ADC3-C33D5180D297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92790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8431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66463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Line">
            <a:extLst>
              <a:ext uri="{FF2B5EF4-FFF2-40B4-BE49-F238E27FC236}">
                <a16:creationId xmlns:a16="http://schemas.microsoft.com/office/drawing/2014/main" id="{01BCCCD3-4A57-B239-2F1E-687A6429D44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029" y="3205028"/>
            <a:ext cx="5652471" cy="36576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61116443-DE54-77AA-7DB8-69A8D90C2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1702"/>
            <a:ext cx="5652471" cy="2241439"/>
          </a:xfrm>
        </p:spPr>
        <p:txBody>
          <a:bodyPr lIns="0" tIns="0" rIns="0" bIns="0" anchor="b">
            <a:noAutofit/>
          </a:bodyPr>
          <a:lstStyle>
            <a:lvl1pPr>
              <a:lnSpc>
                <a:spcPct val="80000"/>
              </a:lnSpc>
              <a:defRPr sz="6200" b="0" i="0" cap="all" spc="-90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8" y="3615050"/>
            <a:ext cx="5652472" cy="2607949"/>
          </a:xfrm>
        </p:spPr>
        <p:txBody>
          <a:bodyPr>
            <a:normAutofit/>
          </a:bodyPr>
          <a:lstStyle>
            <a:lvl1pPr marL="0" indent="0">
              <a:lnSpc>
                <a:spcPct val="105000"/>
              </a:lnSpc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Date Placeholder 4">
            <a:extLst>
              <a:ext uri="{FF2B5EF4-FFF2-40B4-BE49-F238E27FC236}">
                <a16:creationId xmlns:a16="http://schemas.microsoft.com/office/drawing/2014/main" id="{A222E353-0347-132E-E867-33914DB6B6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28" y="6453002"/>
            <a:ext cx="1067625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62EA116-97E7-DB46-9F07-5EA3E970EA29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46" name="Footer Placeholder 5">
            <a:extLst>
              <a:ext uri="{FF2B5EF4-FFF2-40B4-BE49-F238E27FC236}">
                <a16:creationId xmlns:a16="http://schemas.microsoft.com/office/drawing/2014/main" id="{92329690-3D50-86E1-FAE0-DD69A2A8F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01652" y="6453002"/>
            <a:ext cx="2805405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7" name="Slide Number Placeholder 6">
            <a:extLst>
              <a:ext uri="{FF2B5EF4-FFF2-40B4-BE49-F238E27FC236}">
                <a16:creationId xmlns:a16="http://schemas.microsoft.com/office/drawing/2014/main" id="{07B01184-B621-2F8C-EACB-F6FE05AAA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7293" y="6453002"/>
            <a:ext cx="429207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1" name="Picture Placeholder 10">
            <a:extLst>
              <a:ext uri="{FF2B5EF4-FFF2-40B4-BE49-F238E27FC236}">
                <a16:creationId xmlns:a16="http://schemas.microsoft.com/office/drawing/2014/main" id="{B0F21DEB-5E55-D759-1F80-34FBC9BA41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20528" y="0"/>
            <a:ext cx="5305669" cy="6858000"/>
          </a:xfrm>
          <a:blipFill dpi="0" rotWithShape="1">
            <a:blip r:embed="rId4">
              <a:alphaModFix amt="60000"/>
            </a:blip>
            <a:srcRect/>
            <a:stretch>
              <a:fillRect l="-220" t="-3607" r="-1505" b="-9034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28617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Line">
            <a:extLst>
              <a:ext uri="{FF2B5EF4-FFF2-40B4-BE49-F238E27FC236}">
                <a16:creationId xmlns:a16="http://schemas.microsoft.com/office/drawing/2014/main" id="{01BCCCD3-4A57-B239-2F1E-687A6429D44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028" y="3210422"/>
            <a:ext cx="6595449" cy="3657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FFCB02B-08FB-F3AA-5366-A6CF8240F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1702"/>
            <a:ext cx="6595446" cy="2241439"/>
          </a:xfrm>
        </p:spPr>
        <p:txBody>
          <a:bodyPr lIns="0" tIns="0" rIns="0" bIns="0" anchor="b">
            <a:noAutofit/>
          </a:bodyPr>
          <a:lstStyle>
            <a:lvl1pPr>
              <a:lnSpc>
                <a:spcPct val="80000"/>
              </a:lnSpc>
              <a:defRPr sz="6200" b="0" i="0" cap="all" spc="-9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7" y="3608708"/>
            <a:ext cx="6595447" cy="2614292"/>
          </a:xfrm>
        </p:spPr>
        <p:txBody>
          <a:bodyPr>
            <a:normAutofit/>
          </a:bodyPr>
          <a:lstStyle>
            <a:lvl1pPr marL="0" indent="0">
              <a:lnSpc>
                <a:spcPct val="105000"/>
              </a:lnSpc>
              <a:buNone/>
              <a:defRPr sz="16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Date Placeholder 4">
            <a:extLst>
              <a:ext uri="{FF2B5EF4-FFF2-40B4-BE49-F238E27FC236}">
                <a16:creationId xmlns:a16="http://schemas.microsoft.com/office/drawing/2014/main" id="{A222E353-0347-132E-E867-33914DB6B6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28" y="6453002"/>
            <a:ext cx="106762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2EA116-97E7-DB46-9F07-5EA3E970EA29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46" name="Footer Placeholder 5">
            <a:extLst>
              <a:ext uri="{FF2B5EF4-FFF2-40B4-BE49-F238E27FC236}">
                <a16:creationId xmlns:a16="http://schemas.microsoft.com/office/drawing/2014/main" id="{92329690-3D50-86E1-FAE0-DD69A2A8F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4626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7" name="Slide Number Placeholder 6">
            <a:extLst>
              <a:ext uri="{FF2B5EF4-FFF2-40B4-BE49-F238E27FC236}">
                <a16:creationId xmlns:a16="http://schemas.microsoft.com/office/drawing/2014/main" id="{07B01184-B621-2F8C-EACB-F6FE05AAA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00267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1" name="Picture Placeholder 10">
            <a:extLst>
              <a:ext uri="{FF2B5EF4-FFF2-40B4-BE49-F238E27FC236}">
                <a16:creationId xmlns:a16="http://schemas.microsoft.com/office/drawing/2014/main" id="{B0F21DEB-5E55-D759-1F80-34FBC9BA41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63502" y="0"/>
            <a:ext cx="4328498" cy="6858000"/>
          </a:xfrm>
          <a:blipFill dpi="0" rotWithShape="1">
            <a:blip r:embed="rId4">
              <a:alphaModFix amt="60000"/>
            </a:blip>
            <a:srcRect/>
            <a:stretch>
              <a:fillRect l="-9847" t="-6321" r="-14842" b="-632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50327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0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Line">
            <a:extLst>
              <a:ext uri="{FF2B5EF4-FFF2-40B4-BE49-F238E27FC236}">
                <a16:creationId xmlns:a16="http://schemas.microsoft.com/office/drawing/2014/main" id="{01BCCCD3-4A57-B239-2F1E-687A6429D44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028" y="4326189"/>
            <a:ext cx="6595449" cy="3657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FFCB02B-08FB-F3AA-5366-A6CF8240F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1702"/>
            <a:ext cx="6595446" cy="3350064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80000"/>
              </a:lnSpc>
              <a:defRPr sz="9400" b="0" i="0" cap="all" spc="-90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7" y="4707188"/>
            <a:ext cx="6595447" cy="1515811"/>
          </a:xfrm>
        </p:spPr>
        <p:txBody>
          <a:bodyPr>
            <a:normAutofit/>
          </a:bodyPr>
          <a:lstStyle>
            <a:lvl1pPr marL="0" indent="0">
              <a:lnSpc>
                <a:spcPct val="105000"/>
              </a:lnSpc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Date Placeholder 4">
            <a:extLst>
              <a:ext uri="{FF2B5EF4-FFF2-40B4-BE49-F238E27FC236}">
                <a16:creationId xmlns:a16="http://schemas.microsoft.com/office/drawing/2014/main" id="{A222E353-0347-132E-E867-33914DB6B6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28" y="6453002"/>
            <a:ext cx="1067625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62EA116-97E7-DB46-9F07-5EA3E970EA29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46" name="Footer Placeholder 5">
            <a:extLst>
              <a:ext uri="{FF2B5EF4-FFF2-40B4-BE49-F238E27FC236}">
                <a16:creationId xmlns:a16="http://schemas.microsoft.com/office/drawing/2014/main" id="{92329690-3D50-86E1-FAE0-DD69A2A8F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19552" y="6453002"/>
            <a:ext cx="2805405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7" name="Slide Number Placeholder 6">
            <a:extLst>
              <a:ext uri="{FF2B5EF4-FFF2-40B4-BE49-F238E27FC236}">
                <a16:creationId xmlns:a16="http://schemas.microsoft.com/office/drawing/2014/main" id="{07B01184-B621-2F8C-EACB-F6FE05AAA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193" y="6453002"/>
            <a:ext cx="429207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10">
            <a:extLst>
              <a:ext uri="{FF2B5EF4-FFF2-40B4-BE49-F238E27FC236}">
                <a16:creationId xmlns:a16="http://schemas.microsoft.com/office/drawing/2014/main" id="{5536CDF8-AA51-ACFF-01A1-5AC91FA2006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63502" y="0"/>
            <a:ext cx="4328498" cy="6858000"/>
          </a:xfrm>
          <a:blipFill dpi="0" rotWithShape="1">
            <a:blip r:embed="rId4">
              <a:alphaModFix amt="60000"/>
            </a:blip>
            <a:srcRect/>
            <a:stretch>
              <a:fillRect l="-9847" t="-6321" r="-14842" b="-632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52056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718304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800" b="0" i="0" cap="none" spc="30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603503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0000" b="0" i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9496" y="6453002"/>
            <a:ext cx="3494314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58C3043-B413-5C4F-95E7-15D0A907A2D0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81144" y="6453002"/>
            <a:ext cx="2805405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785" y="6453002"/>
            <a:ext cx="429207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23279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1800" b="0" i="0" cap="none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300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960" y="645300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213E27C-8A13-0C4C-8084-848D924D19EC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81144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785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22691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1800" b="0" i="0" cap="none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80000"/>
              </a:lnSpc>
              <a:buNone/>
              <a:defRPr sz="300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960" y="645300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2D6CE67-6FF7-B844-84FB-A78950BC7BF2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81144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785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2527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Line">
            <a:extLst>
              <a:ext uri="{FF2B5EF4-FFF2-40B4-BE49-F238E27FC236}">
                <a16:creationId xmlns:a16="http://schemas.microsoft.com/office/drawing/2014/main" id="{DFB36249-DEE2-32F0-26BA-85D269AB4D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030" y="4362766"/>
            <a:ext cx="10923934" cy="7451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3" y="5107964"/>
            <a:ext cx="9980965" cy="1115036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b="0" i="0" cap="none" spc="30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84313" y="634999"/>
            <a:ext cx="11173651" cy="424296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0000" b="0" i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4313" y="6453002"/>
            <a:ext cx="3494314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403F88D-6DA9-5544-AD9E-D5B84C42C3D6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73116" y="6453002"/>
            <a:ext cx="2805405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8757" y="6453002"/>
            <a:ext cx="429207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0833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85000"/>
              </a:lnSpc>
              <a:buNone/>
              <a:defRPr sz="6200" b="0" i="0" cap="all" spc="-90" baseline="0">
                <a:solidFill>
                  <a:schemeClr val="tx2"/>
                </a:solidFill>
                <a:latin typeface="+mn-lt"/>
              </a:defRPr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add Statement.9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CF55651-526C-9848-85D6-36D4FFE0299C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88524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6200" b="0" i="0" cap="all" spc="-90" baseline="0">
                <a:latin typeface="+mn-lt"/>
              </a:defRPr>
            </a:lvl1pPr>
            <a:lvl2pPr marL="228600" indent="0">
              <a:lnSpc>
                <a:spcPct val="100000"/>
              </a:lnSpc>
              <a:buNone/>
              <a:defRPr sz="4400" b="0" i="0" cap="all" baseline="0">
                <a:latin typeface="Bahnschrift SemiLight" panose="020B0502040204020203" pitchFamily="34" charset="0"/>
              </a:defRPr>
            </a:lvl2pPr>
            <a:lvl3pPr marL="457200" indent="0">
              <a:lnSpc>
                <a:spcPct val="100000"/>
              </a:lnSpc>
              <a:buNone/>
              <a:defRPr sz="4000" b="0" i="0" cap="all" baseline="0">
                <a:latin typeface="Bahnschrift SemiLight" panose="020B0502040204020203" pitchFamily="34" charset="0"/>
              </a:defRPr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BEC3F-AE58-914D-80FE-8F86336925E2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03621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>
                <a:solidFill>
                  <a:srgbClr val="01010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85000"/>
              </a:lnSpc>
              <a:buNone/>
              <a:defRPr sz="6200" b="0" i="0" cap="all" spc="-90" baseline="0">
                <a:solidFill>
                  <a:srgbClr val="010102"/>
                </a:solidFill>
                <a:latin typeface="+mn-lt"/>
              </a:defRPr>
            </a:lvl1pPr>
            <a:lvl2pPr marL="228600" indent="0">
              <a:lnSpc>
                <a:spcPct val="100000"/>
              </a:lnSpc>
              <a:buNone/>
              <a:defRPr sz="4400" b="0" i="0">
                <a:latin typeface="Bahnschrift SemiLight" panose="020B0502040204020203" pitchFamily="34" charset="0"/>
              </a:defRPr>
            </a:lvl2pPr>
            <a:lvl3pPr marL="457200" indent="0">
              <a:lnSpc>
                <a:spcPct val="100000"/>
              </a:lnSpc>
              <a:buNone/>
              <a:defRPr sz="4000" b="0" i="0">
                <a:latin typeface="Bahnschrift SemiLight" panose="020B0502040204020203" pitchFamily="34" charset="0"/>
              </a:defRPr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6" y="6453002"/>
            <a:ext cx="3494314" cy="365125"/>
          </a:xfrm>
        </p:spPr>
        <p:txBody>
          <a:bodyPr/>
          <a:lstStyle>
            <a:lvl1pPr>
              <a:defRPr>
                <a:solidFill>
                  <a:srgbClr val="010102"/>
                </a:solidFill>
              </a:defRPr>
            </a:lvl1pPr>
          </a:lstStyle>
          <a:p>
            <a:fld id="{F8D43F75-AAA6-D94D-83E7-8522B5B9C85D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1010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1010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05799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Star">
            <a:extLst>
              <a:ext uri="{FF2B5EF4-FFF2-40B4-BE49-F238E27FC236}">
                <a16:creationId xmlns:a16="http://schemas.microsoft.com/office/drawing/2014/main" id="{CE1EBC89-4F77-F406-6F55-CF68F0B2B3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15022" y="5475285"/>
            <a:ext cx="742942" cy="7429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2135571"/>
            <a:ext cx="10923934" cy="2599051"/>
          </a:xfrm>
        </p:spPr>
        <p:txBody>
          <a:bodyPr anchor="ctr">
            <a:noAutofit/>
          </a:bodyPr>
          <a:lstStyle>
            <a:lvl1pPr marL="0" indent="0">
              <a:lnSpc>
                <a:spcPct val="85000"/>
              </a:lnSpc>
              <a:buNone/>
              <a:defRPr sz="6200" b="0" i="0" cap="all" spc="-90" baseline="0">
                <a:solidFill>
                  <a:schemeClr val="tx2"/>
                </a:solidFill>
                <a:latin typeface="+mn-lt"/>
              </a:defRPr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8" y="6456218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4977FE3-BF7B-8E4A-9CFD-75BECF8C4782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73116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8757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51453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431536"/>
            <a:ext cx="8970264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0" i="0" cap="none" spc="30" baseline="0">
                <a:solidFill>
                  <a:srgbClr val="010102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5000"/>
              </a:lnSpc>
              <a:spcBef>
                <a:spcPts val="0"/>
              </a:spcBef>
              <a:buNone/>
              <a:defRPr sz="6200" b="0" i="0" cap="all" spc="-90" baseline="0">
                <a:solidFill>
                  <a:srgbClr val="01010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99616" y="6453002"/>
            <a:ext cx="3494314" cy="365125"/>
          </a:xfrm>
        </p:spPr>
        <p:txBody>
          <a:bodyPr/>
          <a:lstStyle>
            <a:lvl1pPr>
              <a:defRPr>
                <a:solidFill>
                  <a:srgbClr val="010102"/>
                </a:solidFill>
              </a:defRPr>
            </a:lvl1pPr>
          </a:lstStyle>
          <a:p>
            <a:fld id="{FC05086C-4FF2-A243-87B6-7357347C3018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07536" y="6453002"/>
            <a:ext cx="2805405" cy="365125"/>
          </a:xfrm>
        </p:spPr>
        <p:txBody>
          <a:bodyPr/>
          <a:lstStyle>
            <a:lvl1pPr>
              <a:defRPr>
                <a:solidFill>
                  <a:srgbClr val="01010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63177" y="6453002"/>
            <a:ext cx="429207" cy="365125"/>
          </a:xfrm>
        </p:spPr>
        <p:txBody>
          <a:bodyPr/>
          <a:lstStyle>
            <a:lvl1pPr>
              <a:defRPr>
                <a:solidFill>
                  <a:srgbClr val="01010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08234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1800" b="0" i="0" cap="none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5000"/>
              </a:lnSpc>
              <a:spcBef>
                <a:spcPts val="0"/>
              </a:spcBef>
              <a:buNone/>
              <a:defRPr sz="6200" b="0" i="0" cap="all" spc="-9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99616" y="645300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401614E-17BB-9D44-B180-0EDBEBAF555D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07536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63177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8093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0" i="0" cap="none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5000"/>
              </a:lnSpc>
              <a:spcBef>
                <a:spcPts val="0"/>
              </a:spcBef>
              <a:buNone/>
              <a:defRPr sz="6200" b="0" i="0" cap="all" spc="-9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14DAC9-792E-5F42-BFE6-5C2F60D90CF5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677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Star">
            <a:extLst>
              <a:ext uri="{FF2B5EF4-FFF2-40B4-BE49-F238E27FC236}">
                <a16:creationId xmlns:a16="http://schemas.microsoft.com/office/drawing/2014/main" id="{10964672-E518-4D68-E636-8E6CE3F415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15022" y="630244"/>
            <a:ext cx="742942" cy="7429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5475285"/>
            <a:ext cx="10911459" cy="747715"/>
          </a:xfrm>
        </p:spPr>
        <p:txBody>
          <a:bodyPr anchor="t">
            <a:normAutofit/>
          </a:bodyPr>
          <a:lstStyle>
            <a:lvl1pPr>
              <a:lnSpc>
                <a:spcPct val="105000"/>
              </a:lnSpc>
              <a:defRPr sz="1800" b="0" i="0" cap="none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377942"/>
            <a:ext cx="10945317" cy="3350584"/>
          </a:xfrm>
        </p:spPr>
        <p:txBody>
          <a:bodyPr anchor="b">
            <a:normAutofit/>
          </a:bodyPr>
          <a:lstStyle>
            <a:lvl1pPr marL="164592" indent="-164592">
              <a:lnSpc>
                <a:spcPct val="85000"/>
              </a:lnSpc>
              <a:spcBef>
                <a:spcPts val="0"/>
              </a:spcBef>
              <a:buNone/>
              <a:defRPr sz="6200" b="0" i="0" cap="all" spc="-9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30" y="645300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204386B-8732-1647-8BAD-75995015164C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66092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1733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227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>
            <a:lvl1pPr>
              <a:lnSpc>
                <a:spcPct val="8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228600" indent="0">
              <a:buNone/>
              <a:defRPr sz="1600">
                <a:solidFill>
                  <a:schemeClr val="tx2"/>
                </a:solidFill>
              </a:defRPr>
            </a:lvl2pPr>
            <a:lvl3pPr marL="457200" indent="0">
              <a:buNone/>
              <a:defRPr sz="1600">
                <a:solidFill>
                  <a:schemeClr val="tx2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228600" indent="0">
              <a:buNone/>
              <a:defRPr sz="1600">
                <a:solidFill>
                  <a:schemeClr val="tx2"/>
                </a:solidFill>
              </a:defRPr>
            </a:lvl2pPr>
            <a:lvl3pPr marL="457200" indent="0">
              <a:buNone/>
              <a:defRPr sz="1600">
                <a:solidFill>
                  <a:schemeClr val="tx2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6534DE4-6EDC-8F43-9F5B-41CBFAD23001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68952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4593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24575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bg>
      <p:bgPr>
        <a:solidFill>
          <a:srgbClr val="F7E6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Line">
            <a:extLst>
              <a:ext uri="{FF2B5EF4-FFF2-40B4-BE49-F238E27FC236}">
                <a16:creationId xmlns:a16="http://schemas.microsoft.com/office/drawing/2014/main" id="{79111B7E-E65A-830F-BB87-73F66B7CA5C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029" y="2477902"/>
            <a:ext cx="10367351" cy="365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8"/>
            <a:ext cx="10367350" cy="1494476"/>
          </a:xfrm>
        </p:spPr>
        <p:txBody>
          <a:bodyPr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29" y="3242950"/>
            <a:ext cx="4714882" cy="2980050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6500" y="3242950"/>
            <a:ext cx="4714879" cy="2980050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56B0272-E495-D640-B781-3B45457E1DA4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16531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2172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74905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>
            <a:lvl1pPr>
              <a:defRPr>
                <a:solidFill>
                  <a:srgbClr val="01010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buNone/>
              <a:defRPr sz="1800" b="1" i="0" cap="all" baseline="0">
                <a:solidFill>
                  <a:srgbClr val="010102"/>
                </a:solidFill>
                <a:latin typeface="Bahnschrift SemiBold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010102"/>
                </a:solidFill>
              </a:defRPr>
            </a:lvl1pPr>
            <a:lvl2pPr marL="228600" indent="0">
              <a:buNone/>
              <a:defRPr sz="1600">
                <a:solidFill>
                  <a:srgbClr val="010102"/>
                </a:solidFill>
              </a:defRPr>
            </a:lvl2pPr>
            <a:lvl3pPr marL="457200" indent="0">
              <a:buNone/>
              <a:defRPr sz="1600">
                <a:solidFill>
                  <a:srgbClr val="010102"/>
                </a:solidFill>
              </a:defRPr>
            </a:lvl3pPr>
            <a:lvl4pPr>
              <a:defRPr>
                <a:solidFill>
                  <a:srgbClr val="010102"/>
                </a:solidFill>
              </a:defRPr>
            </a:lvl4pPr>
            <a:lvl5pPr>
              <a:defRPr>
                <a:solidFill>
                  <a:srgbClr val="01010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10102"/>
                </a:solidFill>
              </a:defRPr>
            </a:lvl1pPr>
          </a:lstStyle>
          <a:p>
            <a:fld id="{E350DE56-8A62-6F40-AE7B-B0F9151A9E56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buNone/>
              <a:defRPr sz="1800" b="1" i="0" cap="all" baseline="0">
                <a:solidFill>
                  <a:srgbClr val="010102"/>
                </a:solidFill>
                <a:latin typeface="Bahnschrift SemiBold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010102"/>
                </a:solidFill>
              </a:defRPr>
            </a:lvl1pPr>
            <a:lvl2pPr marL="228600" indent="0">
              <a:buNone/>
              <a:defRPr sz="1600">
                <a:solidFill>
                  <a:srgbClr val="010102"/>
                </a:solidFill>
              </a:defRPr>
            </a:lvl2pPr>
            <a:lvl3pPr marL="457200" indent="0">
              <a:buNone/>
              <a:defRPr sz="1600">
                <a:solidFill>
                  <a:srgbClr val="010102"/>
                </a:solidFill>
              </a:defRPr>
            </a:lvl3pPr>
            <a:lvl4pPr>
              <a:defRPr>
                <a:solidFill>
                  <a:srgbClr val="010102"/>
                </a:solidFill>
              </a:defRPr>
            </a:lvl4pPr>
            <a:lvl5pPr>
              <a:defRPr>
                <a:solidFill>
                  <a:srgbClr val="01010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1010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1010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57075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6" y="6453002"/>
            <a:ext cx="3494314" cy="365125"/>
          </a:xfrm>
        </p:spPr>
        <p:txBody>
          <a:bodyPr/>
          <a:lstStyle/>
          <a:p>
            <a:fld id="{46682AE1-8259-C24A-83BD-5A5FC288291B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8910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B23EF8E9-A2B2-B24B-135E-39982FCD62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6" y="6453002"/>
            <a:ext cx="3494314" cy="365125"/>
          </a:xfrm>
        </p:spPr>
        <p:txBody>
          <a:bodyPr/>
          <a:lstStyle/>
          <a:p>
            <a:fld id="{46682AE1-8259-C24A-83BD-5A5FC288291B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45A53FD7-649D-8E0C-2C23-3754DE89C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85041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724A0D48-05F5-C62C-79E6-2A12F35C1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4068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61411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Autofit/>
          </a:bodyPr>
          <a:lstStyle>
            <a:lvl1pPr>
              <a:defRPr sz="6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F898E-39A3-5247-ACCC-4612D441D188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90118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759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74162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Autofit/>
          </a:bodyPr>
          <a:lstStyle>
            <a:lvl1pPr>
              <a:defRPr sz="6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E0C54-D3DB-634E-9BB1-24B017BB8435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94505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0146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92873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7342307" cy="1133856"/>
          </a:xfrm>
        </p:spPr>
        <p:txBody>
          <a:bodyPr anchor="b">
            <a:noAutofit/>
          </a:bodyPr>
          <a:lstStyle>
            <a:lvl1pPr>
              <a:defRPr sz="6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228600" indent="0">
              <a:buNone/>
              <a:defRPr sz="1600">
                <a:solidFill>
                  <a:schemeClr val="tx2"/>
                </a:solidFill>
              </a:defRPr>
            </a:lvl2pPr>
            <a:lvl3pPr marL="457200" indent="0">
              <a:buNone/>
              <a:defRPr sz="1600">
                <a:solidFill>
                  <a:schemeClr val="tx2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269383B-C5E1-4521-99A0-272118635CDC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8301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3942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9301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9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BDDE702-1783-DE4C-A9FC-F2CC2D0D6874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1879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ine">
            <a:extLst>
              <a:ext uri="{FF2B5EF4-FFF2-40B4-BE49-F238E27FC236}">
                <a16:creationId xmlns:a16="http://schemas.microsoft.com/office/drawing/2014/main" id="{769E3541-74F7-52C9-B94C-5EA4CD71BC6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776" y="3009004"/>
            <a:ext cx="10945188" cy="365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6" y="634998"/>
            <a:ext cx="10945188" cy="2059433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29" y="3594099"/>
            <a:ext cx="10923935" cy="262890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228600" indent="0">
              <a:buNone/>
              <a:defRPr sz="1600">
                <a:solidFill>
                  <a:schemeClr val="tx2"/>
                </a:solidFill>
              </a:defRPr>
            </a:lvl2pPr>
            <a:lvl3pPr marL="457200" indent="0">
              <a:buNone/>
              <a:defRPr sz="1600">
                <a:solidFill>
                  <a:schemeClr val="tx2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776" y="6465447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269383B-C5E1-4521-99A0-272118635CDC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73116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8757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4641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4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5815" y="4362766"/>
            <a:ext cx="11042149" cy="1493518"/>
          </a:xfrm>
        </p:spPr>
        <p:txBody>
          <a:bodyPr anchor="ctr">
            <a:noAutofit/>
          </a:bodyPr>
          <a:lstStyle>
            <a:lvl1pPr algn="l">
              <a:defRPr sz="9400" b="0" i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5856285"/>
            <a:ext cx="10923934" cy="36671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1" i="0">
                <a:solidFill>
                  <a:schemeClr val="tx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1" name="Picture Placeholder 10">
            <a:extLst>
              <a:ext uri="{FF2B5EF4-FFF2-40B4-BE49-F238E27FC236}">
                <a16:creationId xmlns:a16="http://schemas.microsoft.com/office/drawing/2014/main" id="{006BDCE3-174A-5A48-70E5-1EF0F091545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-1" y="0"/>
            <a:ext cx="12192000" cy="3981766"/>
          </a:xfrm>
          <a:blipFill dpi="0" rotWithShape="1">
            <a:blip r:embed="rId2">
              <a:alphaModFix amt="60000"/>
            </a:blip>
            <a:srcRect/>
            <a:stretch>
              <a:fillRect t="-4626" b="-1178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980E57-BB79-6C48-B673-A431A12C503C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373116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28757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865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61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647" y="6453002"/>
            <a:ext cx="3494314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 cap="all" spc="30" baseline="0">
                <a:solidFill>
                  <a:schemeClr val="tx2"/>
                </a:solidFill>
                <a:latin typeface="+mn-lt"/>
              </a:defRPr>
            </a:lvl1pPr>
          </a:lstStyle>
          <a:p>
            <a:fld id="{3C3B47DE-62A0-AF46-ADBD-5FB8AD4BE9DF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85041" y="6453002"/>
            <a:ext cx="2805405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 cap="all" spc="3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0682" y="6453002"/>
            <a:ext cx="42920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 cap="all" spc="30" baseline="0">
                <a:solidFill>
                  <a:schemeClr val="tx2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803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4" r:id="rId1"/>
    <p:sldLayoutId id="2147484226" r:id="rId2"/>
    <p:sldLayoutId id="2147484228" r:id="rId3"/>
    <p:sldLayoutId id="2147484229" r:id="rId4"/>
    <p:sldLayoutId id="2147484230" r:id="rId5"/>
    <p:sldLayoutId id="2147484231" r:id="rId6"/>
    <p:sldLayoutId id="2147484233" r:id="rId7"/>
    <p:sldLayoutId id="2147484232" r:id="rId8"/>
    <p:sldLayoutId id="2147484234" r:id="rId9"/>
    <p:sldLayoutId id="2147484235" r:id="rId10"/>
    <p:sldLayoutId id="2147484236" r:id="rId11"/>
    <p:sldLayoutId id="2147484237" r:id="rId12"/>
    <p:sldLayoutId id="2147484238" r:id="rId13"/>
    <p:sldLayoutId id="2147484239" r:id="rId14"/>
    <p:sldLayoutId id="2147484240" r:id="rId15"/>
    <p:sldLayoutId id="2147484241" r:id="rId16"/>
    <p:sldLayoutId id="2147484242" r:id="rId17"/>
    <p:sldLayoutId id="2147484243" r:id="rId18"/>
    <p:sldLayoutId id="2147484245" r:id="rId19"/>
    <p:sldLayoutId id="2147484244" r:id="rId20"/>
    <p:sldLayoutId id="2147484227" r:id="rId21"/>
    <p:sldLayoutId id="2147484246" r:id="rId22"/>
    <p:sldLayoutId id="2147484247" r:id="rId23"/>
    <p:sldLayoutId id="2147484251" r:id="rId24"/>
    <p:sldLayoutId id="2147484252" r:id="rId25"/>
    <p:sldLayoutId id="2147484253" r:id="rId26"/>
    <p:sldLayoutId id="2147484254" r:id="rId27"/>
    <p:sldLayoutId id="2147484255" r:id="rId28"/>
    <p:sldLayoutId id="2147484256" r:id="rId29"/>
    <p:sldLayoutId id="2147484257" r:id="rId30"/>
    <p:sldLayoutId id="2147484258" r:id="rId31"/>
    <p:sldLayoutId id="2147484259" r:id="rId32"/>
    <p:sldLayoutId id="2147484260" r:id="rId33"/>
    <p:sldLayoutId id="2147484261" r:id="rId34"/>
    <p:sldLayoutId id="2147484262" r:id="rId35"/>
    <p:sldLayoutId id="2147484263" r:id="rId36"/>
    <p:sldLayoutId id="2147484264" r:id="rId37"/>
    <p:sldLayoutId id="2147484265" r:id="rId38"/>
    <p:sldLayoutId id="2147484248" r:id="rId39"/>
    <p:sldLayoutId id="2147484249" r:id="rId40"/>
    <p:sldLayoutId id="2147484250" r:id="rId41"/>
    <p:sldLayoutId id="2147484266" r:id="rId42"/>
    <p:sldLayoutId id="2147484268" r:id="rId43"/>
    <p:sldLayoutId id="2147484269" r:id="rId44"/>
    <p:sldLayoutId id="2147484267" r:id="rId45"/>
    <p:sldLayoutId id="2147484270" r:id="rId46"/>
    <p:sldLayoutId id="2147484271" r:id="rId47"/>
    <p:sldLayoutId id="2147484273" r:id="rId48"/>
    <p:sldLayoutId id="2147484272" r:id="rId49"/>
    <p:sldLayoutId id="2147484274" r:id="rId50"/>
    <p:sldLayoutId id="2147484275" r:id="rId51"/>
    <p:sldLayoutId id="2147484276" r:id="rId52"/>
    <p:sldLayoutId id="2147484277" r:id="rId53"/>
    <p:sldLayoutId id="2147484278" r:id="rId54"/>
    <p:sldLayoutId id="2147484279" r:id="rId55"/>
    <p:sldLayoutId id="2147484280" r:id="rId56"/>
    <p:sldLayoutId id="2147484281" r:id="rId57"/>
    <p:sldLayoutId id="2147484282" r:id="rId58"/>
    <p:sldLayoutId id="2147484283" r:id="rId59"/>
    <p:sldLayoutId id="2147484284" r:id="rId60"/>
    <p:sldLayoutId id="2147484285" r:id="rId61"/>
    <p:sldLayoutId id="2147484287" r:id="rId62"/>
    <p:sldLayoutId id="2147484286" r:id="rId63"/>
    <p:sldLayoutId id="2147484225" r:id="rId64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6200" b="0" i="0" kern="1200" cap="all" spc="-9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5000"/>
        </a:lnSpc>
        <a:spcBef>
          <a:spcPts val="1000"/>
        </a:spcBef>
        <a:buFont typeface="Arial" panose="020B0604020202020204" pitchFamily="34" charset="0"/>
        <a:buChar char="•"/>
        <a:defRPr sz="1800" b="0" i="0" kern="1200" spc="30" baseline="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5000"/>
        </a:lnSpc>
        <a:spcBef>
          <a:spcPts val="500"/>
        </a:spcBef>
        <a:buFont typeface="Arial" panose="020B0604020202020204" pitchFamily="34" charset="0"/>
        <a:buChar char="•"/>
        <a:defRPr sz="1600" b="0" i="0" kern="1200" spc="30" baseline="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5000"/>
        </a:lnSpc>
        <a:spcBef>
          <a:spcPts val="500"/>
        </a:spcBef>
        <a:buFont typeface="Arial" panose="020B0604020202020204" pitchFamily="34" charset="0"/>
        <a:buChar char="•"/>
        <a:defRPr sz="1400" b="0" i="0" kern="1200" spc="30" baseline="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3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3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4.xml"/><Relationship Id="rId4" Type="http://schemas.openxmlformats.org/officeDocument/2006/relationships/chart" Target="../charts/char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7989-07E4-B482-9F2A-EBF670F7F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3" y="635954"/>
            <a:ext cx="10923934" cy="3717681"/>
          </a:xfrm>
        </p:spPr>
        <p:txBody>
          <a:bodyPr/>
          <a:lstStyle/>
          <a:p>
            <a:pPr algn="ctr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Retail Performance</a:t>
            </a:r>
            <a:b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b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Assurance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CF5F8-0028-8636-5006-5D5C52B32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5856285"/>
            <a:ext cx="10923934" cy="365760"/>
          </a:xfrm>
        </p:spPr>
        <p:txBody>
          <a:bodyPr/>
          <a:lstStyle/>
          <a:p>
            <a:pPr algn="r"/>
            <a:r>
              <a:rPr lang="en-US" b="1" dirty="0"/>
              <a:t>-Sharoon Roja German. A</a:t>
            </a:r>
          </a:p>
        </p:txBody>
      </p:sp>
    </p:spTree>
    <p:extLst>
      <p:ext uri="{BB962C8B-B14F-4D97-AF65-F5344CB8AC3E}">
        <p14:creationId xmlns:p14="http://schemas.microsoft.com/office/powerpoint/2010/main" val="1773831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15BD5B-164F-ADFE-5346-2365D15AC843}"/>
              </a:ext>
            </a:extLst>
          </p:cNvPr>
          <p:cNvSpPr/>
          <p:nvPr/>
        </p:nvSpPr>
        <p:spPr>
          <a:xfrm>
            <a:off x="532263" y="3429000"/>
            <a:ext cx="5754237" cy="324134"/>
          </a:xfrm>
          <a:prstGeom prst="rect">
            <a:avLst/>
          </a:prstGeom>
          <a:solidFill>
            <a:srgbClr val="F7E6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D0D9FB-B08B-6550-BEBF-B43074192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5000"/>
            <a:ext cx="4906962" cy="566004"/>
          </a:xfrm>
        </p:spPr>
        <p:txBody>
          <a:bodyPr/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C7904-BA22-561E-1DE0-8E716FCEA69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7546" y="2661313"/>
            <a:ext cx="6155142" cy="2142699"/>
          </a:xfrm>
        </p:spPr>
        <p:txBody>
          <a:bodyPr anchor="t">
            <a:normAutofit/>
          </a:bodyPr>
          <a:lstStyle/>
          <a:p>
            <a:pPr algn="just"/>
            <a:r>
              <a:rPr lang="en-US" sz="2000" dirty="0"/>
              <a:t>	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based on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transactional dataset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UK-based non-store online retailer. It captures every single interaction between the business and its global customers over a one-year period.</a:t>
            </a:r>
            <a:endParaRPr lang="en-US" sz="24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2050" name="Picture 2" descr="10,852 Retail Sales Solution Royalty ...">
            <a:extLst>
              <a:ext uri="{FF2B5EF4-FFF2-40B4-BE49-F238E27FC236}">
                <a16:creationId xmlns:a16="http://schemas.microsoft.com/office/drawing/2014/main" id="{982C0D88-BF4C-B117-596A-31C537EF6C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61"/>
          <a:stretch/>
        </p:blipFill>
        <p:spPr bwMode="auto">
          <a:xfrm>
            <a:off x="6837529" y="0"/>
            <a:ext cx="535447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5177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AF699-D5B1-6223-96F1-DF160B57A9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1822" y="736979"/>
            <a:ext cx="10194878" cy="5568287"/>
          </a:xfrm>
        </p:spPr>
        <p:txBody>
          <a:bodyPr/>
          <a:lstStyle/>
          <a:p>
            <a:pPr marL="457200" indent="-457200" algn="just">
              <a:buFont typeface="+mj-lt"/>
              <a:buAutoNum type="arabicPeriod"/>
            </a:pPr>
            <a:r>
              <a:rPr lang="en-US" sz="24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Nature of Data: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It’s a </a:t>
            </a:r>
            <a:r>
              <a:rPr lang="en-US" sz="24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B2C (Business to Consumer)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dataset containing both successful sales and product returns.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4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4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Scale: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dataset is massive, consisting of over </a:t>
            </a:r>
            <a:r>
              <a:rPr lang="en-US" sz="24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5,31,180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 from </a:t>
            </a:r>
            <a:r>
              <a:rPr lang="en-US" sz="24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5,36,438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Data 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which allows for high-level statistical significance.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4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4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Scope: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covers transactions across </a:t>
            </a:r>
            <a:r>
              <a:rPr lang="en-US" sz="24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38+ countries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making it a "Global Market Analysis" project.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4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4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 Logic: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data isn't just numbers; it represents customer demand, inventory movement, and financial health (Revenue vs. Loss).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8590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C7084-C959-6935-0D99-455326A78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3" y="1091821"/>
            <a:ext cx="10923934" cy="4135272"/>
          </a:xfrm>
        </p:spPr>
        <p:txBody>
          <a:bodyPr/>
          <a:lstStyle/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b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b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 explanation</a:t>
            </a:r>
          </a:p>
        </p:txBody>
      </p:sp>
    </p:spTree>
    <p:extLst>
      <p:ext uri="{BB962C8B-B14F-4D97-AF65-F5344CB8AC3E}">
        <p14:creationId xmlns:p14="http://schemas.microsoft.com/office/powerpoint/2010/main" val="1751885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18AD6E0-B618-22EA-88D4-38F817EF8009}"/>
              </a:ext>
            </a:extLst>
          </p:cNvPr>
          <p:cNvSpPr/>
          <p:nvPr/>
        </p:nvSpPr>
        <p:spPr>
          <a:xfrm>
            <a:off x="504967" y="3098042"/>
            <a:ext cx="5781533" cy="330958"/>
          </a:xfrm>
          <a:prstGeom prst="rect">
            <a:avLst/>
          </a:prstGeom>
          <a:solidFill>
            <a:srgbClr val="0101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E842F-FDC7-B259-9F3B-88630D44DF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9433" y="313899"/>
            <a:ext cx="6155140" cy="6318913"/>
          </a:xfrm>
        </p:spPr>
        <p:txBody>
          <a:bodyPr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Invoice No -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count unique orders. It helps distinguish between a single large order and multiple small orders.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Code -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Essential for SKU-level (Stock Keeping Unit) tracking. It helps the warehouse team identify which specific product codes are moving fast or sitting idle.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-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allows the marketing team to know which specific items resonate with customers.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 -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in understanding the volume of stock needed.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Invoice Date –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indicates date of billing the product. Invoice date also includes timing.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Price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Used to analyze price sensitivity. It helps the business decide if they are a premium.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ID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Crucial for identifying "Repeat Buyers" vs. "One-time Shoppers.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Identifies high-performing geographic regions. This guides where the business should spend its advertising budget and where to expand logistics.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2453140-6033-B2D8-7770-FF1B767B25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pic>
        <p:nvPicPr>
          <p:cNvPr id="1026" name="Picture 2" descr="June retail sales slowed as consumer worries persist | Retail Customer  Experience">
            <a:extLst>
              <a:ext uri="{FF2B5EF4-FFF2-40B4-BE49-F238E27FC236}">
                <a16:creationId xmlns:a16="http://schemas.microsoft.com/office/drawing/2014/main" id="{0249B32C-6EAC-3F6D-9EEE-6882AA679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0528" y="0"/>
            <a:ext cx="530566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8600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7D8EA-2E52-E764-AE68-47F11CE41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2388358"/>
            <a:ext cx="4142232" cy="2251881"/>
          </a:xfrm>
        </p:spPr>
        <p:txBody>
          <a:bodyPr/>
          <a:lstStyle/>
          <a:p>
            <a:pPr algn="ctr"/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 added</a:t>
            </a: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C8718-4DB8-7626-6B10-7CD7FA6B4A7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40740" y="436728"/>
            <a:ext cx="6441673" cy="5831550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S.No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(Serial No) 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unique incremental integer assigned to every row in the dataset.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Timing (Hour) - Extracted the 'Hour' component from the Invoice Date timestamp.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Weekday - Extracted the specific day of the week (Monday-Sunday) from Invoice Date.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Type - Categorized customers into 'New' or 'Regular' based on their purchase frequency.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- A flag column identifying if a transaction was a 'Sold' or 'Returned' item.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- A calculated field (Quantity \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UnitPrice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each transaction.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1565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701D7-435D-8E7D-53C0-66C0C37F5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236CAB-BB4B-BDCA-63F6-F77BA904E53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30" y="704850"/>
            <a:ext cx="10923934" cy="4686299"/>
          </a:xfrm>
        </p:spPr>
        <p:txBody>
          <a:bodyPr/>
          <a:lstStyle/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</a:p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 </a:t>
            </a:r>
          </a:p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flow</a:t>
            </a:r>
          </a:p>
        </p:txBody>
      </p:sp>
    </p:spTree>
    <p:extLst>
      <p:ext uri="{BB962C8B-B14F-4D97-AF65-F5344CB8AC3E}">
        <p14:creationId xmlns:p14="http://schemas.microsoft.com/office/powerpoint/2010/main" val="1403495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F0339A5-178F-C6A6-8CB4-668904BBA6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7546" y="354843"/>
            <a:ext cx="6878472" cy="6196082"/>
          </a:xfrm>
        </p:spPr>
        <p:txBody>
          <a:bodyPr>
            <a:normAutofit fontScale="92500" lnSpcReduction="10000"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 (Null Treatment)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duplicates (5,258 Duplicates Found and removed).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Identified significant missing values in the Customer ID.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Action: Changed records with null Customer ID to “Guest Customers” ensure the accuracy of customer-centric metrics like Loyalty and Retention.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Outlier and Integrity Check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Found records with zero Unit Price.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Action: Excluded transactions with zero unit price as they do not contribute to commercial Revenue.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Data Unification (The "Append" Strategy)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and Returns data were in separate structures, preventing a holistic view and synchronized filtering.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Action: Performed Data Appending to merge both datasets into a "Single Source of Truth.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(Derived Dimensions)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Extracted temporal attributes from the Invoice Date timestamp to create new columns: Timing (Hour), Weekday, and Month.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1735B8-75C1-8D99-E17A-202152613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087" y="0"/>
            <a:ext cx="479491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182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7989-07E4-B482-9F2A-EBF670F7F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3" y="635954"/>
            <a:ext cx="10923934" cy="3717681"/>
          </a:xfrm>
        </p:spPr>
        <p:txBody>
          <a:bodyPr/>
          <a:lstStyle/>
          <a:p>
            <a:pPr algn="ctr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</a:t>
            </a:r>
            <a:b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b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revenue analysis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983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15BD5B-164F-ADFE-5346-2365D15AC843}"/>
              </a:ext>
            </a:extLst>
          </p:cNvPr>
          <p:cNvSpPr/>
          <p:nvPr/>
        </p:nvSpPr>
        <p:spPr>
          <a:xfrm>
            <a:off x="532263" y="3429000"/>
            <a:ext cx="5754237" cy="324134"/>
          </a:xfrm>
          <a:prstGeom prst="rect">
            <a:avLst/>
          </a:prstGeom>
          <a:solidFill>
            <a:srgbClr val="F7E6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D0D9FB-B08B-6550-BEBF-B43074192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3" y="251157"/>
            <a:ext cx="11025708" cy="566004"/>
          </a:xfrm>
        </p:spPr>
        <p:txBody>
          <a:bodyPr/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Trend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57A650-CDFF-DD6F-248A-242E6AA0B8B3}"/>
              </a:ext>
            </a:extLst>
          </p:cNvPr>
          <p:cNvSpPr txBox="1"/>
          <p:nvPr/>
        </p:nvSpPr>
        <p:spPr>
          <a:xfrm>
            <a:off x="764276" y="5213445"/>
            <a:ext cx="107936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Performance: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business experienced a steady growth trajectory, with a massive breakout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November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reaching approximately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₹14 Lakhs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indicates that the business is highly driven by year-end seasonal shopping.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Growth: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upward trend from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August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November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suggests successful inventory preparation for the peak season.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9C6CF44A-DA8A-4F63-9482-75847BAAFB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0498741"/>
              </p:ext>
            </p:extLst>
          </p:nvPr>
        </p:nvGraphicFramePr>
        <p:xfrm>
          <a:off x="1653654" y="1093626"/>
          <a:ext cx="8884692" cy="32938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69206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15BD5B-164F-ADFE-5346-2365D15AC843}"/>
              </a:ext>
            </a:extLst>
          </p:cNvPr>
          <p:cNvSpPr/>
          <p:nvPr/>
        </p:nvSpPr>
        <p:spPr>
          <a:xfrm>
            <a:off x="532263" y="3429000"/>
            <a:ext cx="5754237" cy="324134"/>
          </a:xfrm>
          <a:prstGeom prst="rect">
            <a:avLst/>
          </a:prstGeom>
          <a:solidFill>
            <a:srgbClr val="F7E6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D0D9FB-B08B-6550-BEBF-B43074192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430284"/>
            <a:ext cx="11048455" cy="566004"/>
          </a:xfrm>
        </p:spPr>
        <p:txBody>
          <a:bodyPr/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 Hour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C7904-BA22-561E-1DE0-8E716FCEA69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275475" y="5172500"/>
            <a:ext cx="10215941" cy="706272"/>
          </a:xfrm>
        </p:spPr>
        <p:txBody>
          <a:bodyPr anchor="t">
            <a:normAutofit fontScale="92500"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 Traffic Intelligence: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Order volume is most concentrated between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10:00 AM and 3:00 PM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This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"Golden Window"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when the highest number of transactions are processed.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081FF36-0E5D-422F-8504-4487937CAC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4007675"/>
              </p:ext>
            </p:extLst>
          </p:nvPr>
        </p:nvGraphicFramePr>
        <p:xfrm>
          <a:off x="1275475" y="1542197"/>
          <a:ext cx="9751916" cy="30843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53615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15BD5B-164F-ADFE-5346-2365D15AC843}"/>
              </a:ext>
            </a:extLst>
          </p:cNvPr>
          <p:cNvSpPr/>
          <p:nvPr/>
        </p:nvSpPr>
        <p:spPr>
          <a:xfrm>
            <a:off x="532263" y="3429000"/>
            <a:ext cx="5754237" cy="324134"/>
          </a:xfrm>
          <a:prstGeom prst="rect">
            <a:avLst/>
          </a:prstGeom>
          <a:solidFill>
            <a:srgbClr val="F7E6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D0D9FB-B08B-6550-BEBF-B43074192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772" y="786642"/>
            <a:ext cx="11048455" cy="566004"/>
          </a:xfrm>
        </p:spPr>
        <p:txBody>
          <a:bodyPr/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Strategic Insight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C7904-BA22-561E-1DE0-8E716FCEA69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234533" y="2454702"/>
            <a:ext cx="9506256" cy="3616656"/>
          </a:xfrm>
        </p:spPr>
        <p:txBody>
          <a:bodyPr anchor="t"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business relies heavily on Q4 seasonality.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maximize ROI .Return On Investment is a performance measure used to evaluate the efficiency or profitability of an investment. It calculates how much profit or value you gain relative to the cost of that investment.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spend and inventory stocking should be prioritized for the August-November window, with daily flash sales or email blasts timed for 10:00 AM to capture peak active users.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271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C7084-C959-6935-0D99-455326A78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3" y="1050877"/>
            <a:ext cx="10923934" cy="4135272"/>
          </a:xfrm>
        </p:spPr>
        <p:txBody>
          <a:bodyPr/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behavior</a:t>
            </a:r>
            <a:b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b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Loyalty</a:t>
            </a:r>
          </a:p>
        </p:txBody>
      </p:sp>
    </p:spTree>
    <p:extLst>
      <p:ext uri="{BB962C8B-B14F-4D97-AF65-F5344CB8AC3E}">
        <p14:creationId xmlns:p14="http://schemas.microsoft.com/office/powerpoint/2010/main" val="3251506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18AD6E0-B618-22EA-88D4-38F817EF8009}"/>
              </a:ext>
            </a:extLst>
          </p:cNvPr>
          <p:cNvSpPr/>
          <p:nvPr/>
        </p:nvSpPr>
        <p:spPr>
          <a:xfrm>
            <a:off x="504967" y="3098042"/>
            <a:ext cx="5781533" cy="330958"/>
          </a:xfrm>
          <a:prstGeom prst="rect">
            <a:avLst/>
          </a:prstGeom>
          <a:solidFill>
            <a:srgbClr val="0101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E842F-FDC7-B259-9F3B-88630D44DF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5850" y="2476500"/>
            <a:ext cx="5924549" cy="3105150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New vs. Regular Customer donut chart shows a healthy mix, but "Regular" customers provide the stable "floor" for monthly revenue.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Picture Placeholder 1">
            <a:extLst>
              <a:ext uri="{FF2B5EF4-FFF2-40B4-BE49-F238E27FC236}">
                <a16:creationId xmlns:a16="http://schemas.microsoft.com/office/drawing/2014/main" id="{DF06E167-0730-4A39-8C43-1972A1716FD1}"/>
              </a:ext>
            </a:extLst>
          </p:cNvPr>
          <p:cNvGraphicFramePr>
            <a:graphicFrameLocks noGrp="1"/>
          </p:cNvGraphicFramePr>
          <p:nvPr>
            <p:ph type="pic" sz="quarter" idx="13"/>
            <p:extLst>
              <p:ext uri="{D42A27DB-BD31-4B8C-83A1-F6EECF244321}">
                <p14:modId xmlns:p14="http://schemas.microsoft.com/office/powerpoint/2010/main" val="2279281316"/>
              </p:ext>
            </p:extLst>
          </p:nvPr>
        </p:nvGraphicFramePr>
        <p:xfrm>
          <a:off x="7582183" y="1895475"/>
          <a:ext cx="4200384" cy="409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F52D09C0-F076-1A8F-7B42-4FEAC162D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430284"/>
            <a:ext cx="10910270" cy="566004"/>
          </a:xfrm>
        </p:spPr>
        <p:txBody>
          <a:bodyPr/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 Hour Analysis</a:t>
            </a:r>
          </a:p>
        </p:txBody>
      </p:sp>
    </p:spTree>
    <p:extLst>
      <p:ext uri="{BB962C8B-B14F-4D97-AF65-F5344CB8AC3E}">
        <p14:creationId xmlns:p14="http://schemas.microsoft.com/office/powerpoint/2010/main" val="3976365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18AD6E0-B618-22EA-88D4-38F817EF8009}"/>
              </a:ext>
            </a:extLst>
          </p:cNvPr>
          <p:cNvSpPr/>
          <p:nvPr/>
        </p:nvSpPr>
        <p:spPr>
          <a:xfrm>
            <a:off x="504967" y="3098042"/>
            <a:ext cx="5781533" cy="330958"/>
          </a:xfrm>
          <a:prstGeom prst="rect">
            <a:avLst/>
          </a:prstGeom>
          <a:solidFill>
            <a:srgbClr val="0101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E842F-FDC7-B259-9F3B-88630D44DF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5350" y="5127294"/>
            <a:ext cx="10515600" cy="1300421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Customer Loyalty line chart indicates that while new customers are being acquired, the core revenue is driven by a repeat-purchase cycle.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52D09C0-F076-1A8F-7B42-4FEAC162D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430284"/>
            <a:ext cx="10910270" cy="566004"/>
          </a:xfrm>
        </p:spPr>
        <p:txBody>
          <a:bodyPr/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 Hour Analysis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1927C5B-6DED-4CF0-A40C-7D394E1226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9695218"/>
              </p:ext>
            </p:extLst>
          </p:nvPr>
        </p:nvGraphicFramePr>
        <p:xfrm>
          <a:off x="895350" y="1361083"/>
          <a:ext cx="10515600" cy="34014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14039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18AD6E0-B618-22EA-88D4-38F817EF8009}"/>
              </a:ext>
            </a:extLst>
          </p:cNvPr>
          <p:cNvSpPr/>
          <p:nvPr/>
        </p:nvSpPr>
        <p:spPr>
          <a:xfrm>
            <a:off x="504967" y="3098042"/>
            <a:ext cx="5781533" cy="330958"/>
          </a:xfrm>
          <a:prstGeom prst="rect">
            <a:avLst/>
          </a:prstGeom>
          <a:solidFill>
            <a:srgbClr val="0101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E842F-FDC7-B259-9F3B-88630D44DF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5350" y="1504950"/>
            <a:ext cx="10515600" cy="4922765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brand has high trust and retention.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since the AOV is relatively low (£518), the next phase of growth should focus on "Average Basket Size" optimization.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Implementing "Frequently Bought Together" bundles or a "Free Shipping over £1,000" threshold could significantly boost the Net Revenue without needing new customers.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52D09C0-F076-1A8F-7B42-4FEAC162D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430284"/>
            <a:ext cx="10910270" cy="566004"/>
          </a:xfrm>
        </p:spPr>
        <p:txBody>
          <a:bodyPr/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strategic insights</a:t>
            </a:r>
          </a:p>
        </p:txBody>
      </p:sp>
    </p:spTree>
    <p:extLst>
      <p:ext uri="{BB962C8B-B14F-4D97-AF65-F5344CB8AC3E}">
        <p14:creationId xmlns:p14="http://schemas.microsoft.com/office/powerpoint/2010/main" val="24378210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701D7-435D-8E7D-53C0-66C0C37F5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236CAB-BB4B-BDCA-63F6-F77BA904E53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30" y="704850"/>
            <a:ext cx="10923934" cy="4686299"/>
          </a:xfrm>
        </p:spPr>
        <p:txBody>
          <a:bodyPr/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</a:p>
          <a:p>
            <a:pPr algn="ctr"/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</a:p>
          <a:p>
            <a:pPr algn="ctr"/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Analysis</a:t>
            </a:r>
          </a:p>
        </p:txBody>
      </p:sp>
    </p:spTree>
    <p:extLst>
      <p:ext uri="{BB962C8B-B14F-4D97-AF65-F5344CB8AC3E}">
        <p14:creationId xmlns:p14="http://schemas.microsoft.com/office/powerpoint/2010/main" val="8447074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F0339A5-178F-C6A6-8CB4-668904BBA6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2475" y="5182738"/>
            <a:ext cx="10687050" cy="1369324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Leakage: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dashboard identifies a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4.6% Return Rate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which translates to a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₹4.75 Lakh loss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the Gross Sales.</a:t>
            </a:r>
          </a:p>
          <a:p>
            <a:pPr algn="just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High-Risk Products: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Specific items like the </a:t>
            </a:r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“Regency </a:t>
            </a:r>
            <a:r>
              <a:rPr lang="en-US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Cakestand</a:t>
            </a:r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“Jam Making Set”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appear in the high-return category.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D86F0A28-EFE9-4436-BDB7-35A9B147AF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0737474"/>
              </p:ext>
            </p:extLst>
          </p:nvPr>
        </p:nvGraphicFramePr>
        <p:xfrm>
          <a:off x="800100" y="1314450"/>
          <a:ext cx="10458450" cy="3467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1A2E2EFC-AD1D-E962-B1B0-2ACD125C42E1}"/>
              </a:ext>
            </a:extLst>
          </p:cNvPr>
          <p:cNvSpPr txBox="1">
            <a:spLocks/>
          </p:cNvSpPr>
          <p:nvPr/>
        </p:nvSpPr>
        <p:spPr>
          <a:xfrm>
            <a:off x="634030" y="430284"/>
            <a:ext cx="10910270" cy="56600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9400" b="0" i="0" kern="1200" cap="all" spc="-9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analysis</a:t>
            </a:r>
          </a:p>
        </p:txBody>
      </p:sp>
    </p:spTree>
    <p:extLst>
      <p:ext uri="{BB962C8B-B14F-4D97-AF65-F5344CB8AC3E}">
        <p14:creationId xmlns:p14="http://schemas.microsoft.com/office/powerpoint/2010/main" val="41020533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F0339A5-178F-C6A6-8CB4-668904BBA6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2475" y="5182738"/>
            <a:ext cx="10687050" cy="1369324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 Impact: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Revenue Loss Analysis (Waterfall chart) shows that while Gross Sales are over ₹1 Crore, returns are the primary "leak" preventing the business from reaching higher net profitability.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A2E2EFC-AD1D-E962-B1B0-2ACD125C42E1}"/>
              </a:ext>
            </a:extLst>
          </p:cNvPr>
          <p:cNvSpPr txBox="1">
            <a:spLocks/>
          </p:cNvSpPr>
          <p:nvPr/>
        </p:nvSpPr>
        <p:spPr>
          <a:xfrm>
            <a:off x="634030" y="430284"/>
            <a:ext cx="10910270" cy="56600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9400" b="0" i="0" kern="1200" cap="all" spc="-9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 analysis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D25396D-BC09-412E-A392-42C7A73279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7130775"/>
              </p:ext>
            </p:extLst>
          </p:nvPr>
        </p:nvGraphicFramePr>
        <p:xfrm>
          <a:off x="752475" y="1371600"/>
          <a:ext cx="10791825" cy="34598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119188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F0339A5-178F-C6A6-8CB4-668904BBA6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2475" y="1733550"/>
            <a:ext cx="10687050" cy="4818512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4.6% return rate is manageable but can be improved.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performing a targeted Quality Audit on the top 5 most-returned products, the business can reduce logistics and refund costs, potentially saving ₹1 Lakh annually in operational "waste."</a:t>
            </a: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A2E2EFC-AD1D-E962-B1B0-2ACD125C42E1}"/>
              </a:ext>
            </a:extLst>
          </p:cNvPr>
          <p:cNvSpPr txBox="1">
            <a:spLocks/>
          </p:cNvSpPr>
          <p:nvPr/>
        </p:nvSpPr>
        <p:spPr>
          <a:xfrm>
            <a:off x="634030" y="430284"/>
            <a:ext cx="10910270" cy="56600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9400" b="0" i="0" kern="1200" cap="all" spc="-9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Strategic Insight</a:t>
            </a:r>
          </a:p>
        </p:txBody>
      </p:sp>
    </p:spTree>
    <p:extLst>
      <p:ext uri="{BB962C8B-B14F-4D97-AF65-F5344CB8AC3E}">
        <p14:creationId xmlns:p14="http://schemas.microsoft.com/office/powerpoint/2010/main" val="35453384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7989-07E4-B482-9F2A-EBF670F7F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3" y="635954"/>
            <a:ext cx="10923934" cy="3717681"/>
          </a:xfrm>
        </p:spPr>
        <p:txBody>
          <a:bodyPr/>
          <a:lstStyle/>
          <a:p>
            <a:pPr algn="ctr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Geographical</a:t>
            </a:r>
            <a:b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b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23458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15BD5B-164F-ADFE-5346-2365D15AC843}"/>
              </a:ext>
            </a:extLst>
          </p:cNvPr>
          <p:cNvSpPr/>
          <p:nvPr/>
        </p:nvSpPr>
        <p:spPr>
          <a:xfrm>
            <a:off x="447322" y="4417800"/>
            <a:ext cx="11110650" cy="566003"/>
          </a:xfrm>
          <a:prstGeom prst="rect">
            <a:avLst/>
          </a:prstGeom>
          <a:solidFill>
            <a:srgbClr val="F7E6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UNITED KINGDOM</a:t>
            </a: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D0D9FB-B08B-6550-BEBF-B43074192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3" y="251157"/>
            <a:ext cx="11025708" cy="566004"/>
          </a:xfrm>
        </p:spPr>
        <p:txBody>
          <a:bodyPr/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Emerging markets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57A650-CDFF-DD6F-248A-242E6AA0B8B3}"/>
              </a:ext>
            </a:extLst>
          </p:cNvPr>
          <p:cNvSpPr txBox="1"/>
          <p:nvPr/>
        </p:nvSpPr>
        <p:spPr>
          <a:xfrm>
            <a:off x="532263" y="5213445"/>
            <a:ext cx="110257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Dominant Market: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United Kingdom is the powerhouse, contributing the vast majority of sales and unique invoice counts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C6CF44A-DA8A-4F63-9482-75847BAAFB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5256772"/>
              </p:ext>
            </p:extLst>
          </p:nvPr>
        </p:nvGraphicFramePr>
        <p:xfrm>
          <a:off x="532263" y="1009649"/>
          <a:ext cx="10554837" cy="30641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974162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15BD5B-164F-ADFE-5346-2365D15AC843}"/>
              </a:ext>
            </a:extLst>
          </p:cNvPr>
          <p:cNvSpPr/>
          <p:nvPr/>
        </p:nvSpPr>
        <p:spPr>
          <a:xfrm>
            <a:off x="290880" y="3753134"/>
            <a:ext cx="11744679" cy="451602"/>
          </a:xfrm>
          <a:prstGeom prst="rect">
            <a:avLst/>
          </a:prstGeom>
          <a:solidFill>
            <a:srgbClr val="F7E6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GERMANY                                                     FRANCE                                               NETHERLAND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D0D9FB-B08B-6550-BEBF-B43074192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3" y="251157"/>
            <a:ext cx="11025708" cy="566004"/>
          </a:xfrm>
        </p:spPr>
        <p:txBody>
          <a:bodyPr/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Emerging markets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57A650-CDFF-DD6F-248A-242E6AA0B8B3}"/>
              </a:ext>
            </a:extLst>
          </p:cNvPr>
          <p:cNvSpPr txBox="1"/>
          <p:nvPr/>
        </p:nvSpPr>
        <p:spPr>
          <a:xfrm>
            <a:off x="532263" y="4761843"/>
            <a:ext cx="110257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Emerging Markets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Countries like Germany, France, and the Netherlands are showing consistent growth and higher AOV compared to some smaller regions.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C6CF44A-DA8A-4F63-9482-75847BAAFB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9791961"/>
              </p:ext>
            </p:extLst>
          </p:nvPr>
        </p:nvGraphicFramePr>
        <p:xfrm>
          <a:off x="156441" y="1430830"/>
          <a:ext cx="3811137" cy="21602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C6CF44A-DA8A-4F63-9482-75847BAAFB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6955211"/>
              </p:ext>
            </p:extLst>
          </p:nvPr>
        </p:nvGraphicFramePr>
        <p:xfrm>
          <a:off x="4255554" y="1473478"/>
          <a:ext cx="3811138" cy="21318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C6CF44A-DA8A-4F63-9482-75847BAAFB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821974"/>
              </p:ext>
            </p:extLst>
          </p:nvPr>
        </p:nvGraphicFramePr>
        <p:xfrm>
          <a:off x="8310979" y="1473478"/>
          <a:ext cx="3724580" cy="21318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813260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15BD5B-164F-ADFE-5346-2365D15AC843}"/>
              </a:ext>
            </a:extLst>
          </p:cNvPr>
          <p:cNvSpPr/>
          <p:nvPr/>
        </p:nvSpPr>
        <p:spPr>
          <a:xfrm>
            <a:off x="223660" y="3429000"/>
            <a:ext cx="11744679" cy="451602"/>
          </a:xfrm>
          <a:prstGeom prst="rect">
            <a:avLst/>
          </a:prstGeom>
          <a:solidFill>
            <a:srgbClr val="F7E6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D0D9FB-B08B-6550-BEBF-B43074192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3" y="251157"/>
            <a:ext cx="11025708" cy="566004"/>
          </a:xfrm>
        </p:spPr>
        <p:txBody>
          <a:bodyPr/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STRATEGIC INSIGHTS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57A650-CDFF-DD6F-248A-242E6AA0B8B3}"/>
              </a:ext>
            </a:extLst>
          </p:cNvPr>
          <p:cNvSpPr txBox="1"/>
          <p:nvPr/>
        </p:nvSpPr>
        <p:spPr>
          <a:xfrm>
            <a:off x="532263" y="1485243"/>
            <a:ext cx="1102570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Diversification: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"Country" analysis shows that while the business is global, there is a heavy reliance on the UK market, which poses a risk if local economic conditions change.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business has a strong international footprint but is UK-centric. The strategic goal should be to "copy-paste" the UK success into Germany and France by localizing marketing and potentially setting up regional distribution hubs to reduce the shipping times that might be contributing to international returns.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3853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D96FCF2-5DD6-9FD7-8F5F-4C46ACCF9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548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95D1111-12A2-6ED2-5894-86B2F03B3A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8700" y="2209800"/>
            <a:ext cx="10115549" cy="3790950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 Health: Net Revenue of ₹97.71 Lakhs with a solid ₹518 AOV.</a:t>
            </a:r>
          </a:p>
          <a:p>
            <a:pPr algn="l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Strength: Exceptional performance during the Holiday Season and high Customer Loyalty.</a:t>
            </a:r>
          </a:p>
          <a:p>
            <a:pPr algn="l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 Plan: "Plug" the 4.6% revenue leakage by fixing high-return products and increase the AOV through strategic product bundling during peak hours.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D1EB64C-2E05-683B-F4AE-8A9328A2BC82}"/>
              </a:ext>
            </a:extLst>
          </p:cNvPr>
          <p:cNvSpPr txBox="1">
            <a:spLocks/>
          </p:cNvSpPr>
          <p:nvPr/>
        </p:nvSpPr>
        <p:spPr>
          <a:xfrm>
            <a:off x="532263" y="251157"/>
            <a:ext cx="11025708" cy="56600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9400" b="0" i="0" kern="1200" cap="all" spc="-9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522243650"/>
      </p:ext>
    </p:extLst>
  </p:cSld>
  <p:clrMapOvr>
    <a:masterClrMapping/>
  </p:clrMapOvr>
</p:sld>
</file>

<file path=ppt/theme/theme1.xml><?xml version="1.0" encoding="utf-8"?>
<a:theme xmlns:a="http://schemas.openxmlformats.org/drawingml/2006/main" name="BlockworkElegance_Sales">
  <a:themeElements>
    <a:clrScheme name="Custom 27">
      <a:dk1>
        <a:srgbClr val="000000"/>
      </a:dk1>
      <a:lt1>
        <a:srgbClr val="FFFFFF"/>
      </a:lt1>
      <a:dk2>
        <a:srgbClr val="000102"/>
      </a:dk2>
      <a:lt2>
        <a:srgbClr val="F7E6D3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2B241E"/>
      </a:accent6>
      <a:hlink>
        <a:srgbClr val="FDF2D3"/>
      </a:hlink>
      <a:folHlink>
        <a:srgbClr val="512218"/>
      </a:folHlink>
    </a:clrScheme>
    <a:fontScheme name="Custom 23">
      <a:majorFont>
        <a:latin typeface="Bahnschrift SemiLight"/>
        <a:ea typeface=""/>
        <a:cs typeface=""/>
      </a:majorFont>
      <a:minorFont>
        <a:latin typeface="Bahnschrif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workElegance_Sales_win32_KO_V8" id="{A89DB808-B929-4D35-8D17-1EDB8C621B73}" vid="{E738F25A-09DF-4C5B-B9DC-CE0EE2B25EF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2185BFC-6E97-4C88-9034-F2A7ED1C005E}">
  <ds:schemaRefs>
    <ds:schemaRef ds:uri="http://schemas.microsoft.com/sharepoint/v3"/>
    <ds:schemaRef ds:uri="71af3243-3dd4-4a8d-8c0d-dd76da1f02a5"/>
    <ds:schemaRef ds:uri="http://purl.org/dc/elements/1.1/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16c05727-aa75-4e4a-9b5f-8a80a1165891"/>
    <ds:schemaRef ds:uri="230e9df3-be65-4c73-a93b-d1236ebd677e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881A4212-02C6-475D-B332-DC5017D045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59F4493-28C5-41EE-82D6-BF149D0719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Blockwork elegance sales presentation</Template>
  <TotalTime>405</TotalTime>
  <Words>1266</Words>
  <Application>Microsoft Office PowerPoint</Application>
  <PresentationFormat>Widescreen</PresentationFormat>
  <Paragraphs>100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Arial</vt:lpstr>
      <vt:lpstr>Bahnschrift SemiBold</vt:lpstr>
      <vt:lpstr>Bahnschrift SemiLight</vt:lpstr>
      <vt:lpstr>Times New Roman</vt:lpstr>
      <vt:lpstr>BlockworkElegance_Sales</vt:lpstr>
      <vt:lpstr>Global Retail Performance   &amp;   Revenue Assurance</vt:lpstr>
      <vt:lpstr>About Data</vt:lpstr>
      <vt:lpstr>PowerPoint Presentation</vt:lpstr>
      <vt:lpstr>Data   &amp;   column explanation</vt:lpstr>
      <vt:lpstr>PowerPoint Presentation</vt:lpstr>
      <vt:lpstr>Column added</vt:lpstr>
      <vt:lpstr>PowerPoint Presentation</vt:lpstr>
      <vt:lpstr>PowerPoint Presentation</vt:lpstr>
      <vt:lpstr>Sales   &amp;   revenue analysis</vt:lpstr>
      <vt:lpstr>Monthly Trend</vt:lpstr>
      <vt:lpstr>Peak Hour Analysis</vt:lpstr>
      <vt:lpstr>Overall Strategic Insight</vt:lpstr>
      <vt:lpstr>Customer behavior  &amp;   Loyalty</vt:lpstr>
      <vt:lpstr>Peak Hour Analysis</vt:lpstr>
      <vt:lpstr>Peak Hour Analysis</vt:lpstr>
      <vt:lpstr>Overall strategic insights</vt:lpstr>
      <vt:lpstr>PowerPoint Presentation</vt:lpstr>
      <vt:lpstr>PowerPoint Presentation</vt:lpstr>
      <vt:lpstr>PowerPoint Presentation</vt:lpstr>
      <vt:lpstr>PowerPoint Presentation</vt:lpstr>
      <vt:lpstr>Geographical  insights  </vt:lpstr>
      <vt:lpstr>Emerging markets</vt:lpstr>
      <vt:lpstr>Emerging markets</vt:lpstr>
      <vt:lpstr>OVERALL STRATEGIC INSIGHTS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 hec</dc:creator>
  <cp:lastModifiedBy>p hec</cp:lastModifiedBy>
  <cp:revision>3</cp:revision>
  <dcterms:created xsi:type="dcterms:W3CDTF">2026-04-08T15:37:59Z</dcterms:created>
  <dcterms:modified xsi:type="dcterms:W3CDTF">2026-04-10T13:06:16Z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